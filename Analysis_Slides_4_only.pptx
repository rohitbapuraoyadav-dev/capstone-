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75" r:id="rId2"/>
    <p:sldId id="276" r:id="rId3"/>
    <p:sldId id="277" r:id="rId4"/>
    <p:sldId id="278" r:id="rId5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DE51A2-A2E0-40DF-969C-8F1501402514}" v="3" dt="2026-09-30T12:27:38.1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mant Mishra" userId="1694ab1b-1517-43c5-9419-88e89761e8a6" providerId="ADAL" clId="{B60B23B5-4D61-402D-B23B-F65900289054}"/>
    <pc:docChg chg="custSel modSld modMainMaster">
      <pc:chgData name="Simant Mishra" userId="1694ab1b-1517-43c5-9419-88e89761e8a6" providerId="ADAL" clId="{B60B23B5-4D61-402D-B23B-F65900289054}" dt="2026-09-30T12:25:38.439" v="19" actId="478"/>
      <pc:docMkLst>
        <pc:docMk/>
      </pc:docMkLst>
      <pc:sldChg chg="delSp mod">
        <pc:chgData name="Simant Mishra" userId="1694ab1b-1517-43c5-9419-88e89761e8a6" providerId="ADAL" clId="{B60B23B5-4D61-402D-B23B-F65900289054}" dt="2026-09-30T12:25:38.439" v="19" actId="478"/>
        <pc:sldMkLst>
          <pc:docMk/>
          <pc:sldMk cId="0" sldId="256"/>
        </pc:sldMkLst>
        <pc:spChg chg="del">
          <ac:chgData name="Simant Mishra" userId="1694ab1b-1517-43c5-9419-88e89761e8a6" providerId="ADAL" clId="{B60B23B5-4D61-402D-B23B-F65900289054}" dt="2026-09-30T12:25:38.439" v="19" actId="478"/>
          <ac:spMkLst>
            <pc:docMk/>
            <pc:sldMk cId="0" sldId="256"/>
            <ac:spMk id="2" creationId="{00000000-0000-0000-0000-000000000000}"/>
          </ac:spMkLst>
        </pc:spChg>
        <pc:spChg chg="del">
          <ac:chgData name="Simant Mishra" userId="1694ab1b-1517-43c5-9419-88e89761e8a6" providerId="ADAL" clId="{B60B23B5-4D61-402D-B23B-F65900289054}" dt="2026-09-30T12:25:33.792" v="16" actId="478"/>
          <ac:spMkLst>
            <pc:docMk/>
            <pc:sldMk cId="0" sldId="256"/>
            <ac:spMk id="3" creationId="{00000000-0000-0000-0000-000000000000}"/>
          </ac:spMkLst>
        </pc:spChg>
        <pc:spChg chg="del">
          <ac:chgData name="Simant Mishra" userId="1694ab1b-1517-43c5-9419-88e89761e8a6" providerId="ADAL" clId="{B60B23B5-4D61-402D-B23B-F65900289054}" dt="2026-09-30T12:25:36.677" v="18" actId="478"/>
          <ac:spMkLst>
            <pc:docMk/>
            <pc:sldMk cId="0" sldId="256"/>
            <ac:spMk id="4" creationId="{00000000-0000-0000-0000-000000000000}"/>
          </ac:spMkLst>
        </pc:spChg>
        <pc:spChg chg="del">
          <ac:chgData name="Simant Mishra" userId="1694ab1b-1517-43c5-9419-88e89761e8a6" providerId="ADAL" clId="{B60B23B5-4D61-402D-B23B-F65900289054}" dt="2026-09-30T12:25:34.835" v="17" actId="478"/>
          <ac:spMkLst>
            <pc:docMk/>
            <pc:sldMk cId="0" sldId="256"/>
            <ac:spMk id="5" creationId="{00000000-0000-0000-0000-000000000000}"/>
          </ac:spMkLst>
        </pc:spChg>
      </pc:sldChg>
      <pc:sldMasterChg chg="modSldLayout">
        <pc:chgData name="Simant Mishra" userId="1694ab1b-1517-43c5-9419-88e89761e8a6" providerId="ADAL" clId="{B60B23B5-4D61-402D-B23B-F65900289054}" dt="2026-09-30T12:25:18.958" v="15" actId="1036"/>
        <pc:sldMasterMkLst>
          <pc:docMk/>
          <pc:sldMasterMk cId="0" sldId="2147483648"/>
        </pc:sldMasterMkLst>
        <pc:sldLayoutChg chg="addSp modSp mod">
          <pc:chgData name="Simant Mishra" userId="1694ab1b-1517-43c5-9419-88e89761e8a6" providerId="ADAL" clId="{B60B23B5-4D61-402D-B23B-F65900289054}" dt="2026-09-30T12:25:18.958" v="15" actId="1036"/>
          <pc:sldLayoutMkLst>
            <pc:docMk/>
            <pc:sldMasterMk cId="0" sldId="2147483648"/>
            <pc:sldLayoutMk cId="0" sldId="2147483649"/>
          </pc:sldLayoutMkLst>
          <pc:picChg chg="add mod">
            <ac:chgData name="Simant Mishra" userId="1694ab1b-1517-43c5-9419-88e89761e8a6" providerId="ADAL" clId="{B60B23B5-4D61-402D-B23B-F65900289054}" dt="2026-09-30T12:25:16.102" v="14" actId="1036"/>
            <ac:picMkLst>
              <pc:docMk/>
              <pc:sldMasterMk cId="0" sldId="2147483648"/>
              <pc:sldLayoutMk cId="0" sldId="2147483649"/>
              <ac:picMk id="2" creationId="{62125B99-BCAE-C84A-12C0-7BB0A2CCADB1}"/>
            </ac:picMkLst>
          </pc:picChg>
          <pc:picChg chg="add mod">
            <ac:chgData name="Simant Mishra" userId="1694ab1b-1517-43c5-9419-88e89761e8a6" providerId="ADAL" clId="{B60B23B5-4D61-402D-B23B-F65900289054}" dt="2026-09-30T12:25:18.958" v="15" actId="1036"/>
            <ac:picMkLst>
              <pc:docMk/>
              <pc:sldMasterMk cId="0" sldId="2147483648"/>
              <pc:sldLayoutMk cId="0" sldId="2147483649"/>
              <ac:picMk id="3" creationId="{DE4986C6-C383-2D95-BB20-55D146D0F2E3}"/>
            </ac:picMkLst>
          </pc:picChg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Readmission rate %</c:v>
                </c:pt>
              </c:strCache>
            </c:strRef>
          </c:tx>
          <c:spPr>
            <a:ln w="31750">
              <a:solidFill>
                <a:srgbClr val="E8871E"/>
              </a:solidFill>
            </a:ln>
          </c:spPr>
          <c:marker>
            <c:symbol val="none"/>
          </c:marker>
          <c:cat>
            <c:strRef>
              <c:f>Sheet1!$A$2:$A$30</c:f>
              <c:strCache>
                <c:ptCount val="29"/>
                <c:pt idx="0">
                  <c:v>Jan-24</c:v>
                </c:pt>
                <c:pt idx="1">
                  <c:v>Feb-24</c:v>
                </c:pt>
                <c:pt idx="2">
                  <c:v>Mar-24</c:v>
                </c:pt>
                <c:pt idx="3">
                  <c:v>Apr-24</c:v>
                </c:pt>
                <c:pt idx="4">
                  <c:v>May-24</c:v>
                </c:pt>
                <c:pt idx="5">
                  <c:v>Jun-24</c:v>
                </c:pt>
                <c:pt idx="6">
                  <c:v>Jul-24</c:v>
                </c:pt>
                <c:pt idx="7">
                  <c:v>Aug-24</c:v>
                </c:pt>
                <c:pt idx="8">
                  <c:v>Sep-24</c:v>
                </c:pt>
                <c:pt idx="9">
                  <c:v>Oct-24</c:v>
                </c:pt>
                <c:pt idx="10">
                  <c:v>Nov-24</c:v>
                </c:pt>
                <c:pt idx="11">
                  <c:v>Dec-24</c:v>
                </c:pt>
                <c:pt idx="12">
                  <c:v>Jan-25</c:v>
                </c:pt>
                <c:pt idx="13">
                  <c:v>Feb-25</c:v>
                </c:pt>
                <c:pt idx="14">
                  <c:v>Mar-25</c:v>
                </c:pt>
                <c:pt idx="15">
                  <c:v>Apr-25</c:v>
                </c:pt>
                <c:pt idx="16">
                  <c:v>May-25</c:v>
                </c:pt>
                <c:pt idx="17">
                  <c:v>Jun-25</c:v>
                </c:pt>
                <c:pt idx="18">
                  <c:v>Jul-25</c:v>
                </c:pt>
                <c:pt idx="19">
                  <c:v>Aug-25</c:v>
                </c:pt>
                <c:pt idx="20">
                  <c:v>Sep-25</c:v>
                </c:pt>
                <c:pt idx="21">
                  <c:v>Oct-25</c:v>
                </c:pt>
                <c:pt idx="22">
                  <c:v>Nov-25</c:v>
                </c:pt>
                <c:pt idx="23">
                  <c:v>Dec-25</c:v>
                </c:pt>
                <c:pt idx="24">
                  <c:v>Jan-26</c:v>
                </c:pt>
                <c:pt idx="25">
                  <c:v>Feb-26</c:v>
                </c:pt>
                <c:pt idx="26">
                  <c:v>Mar-26</c:v>
                </c:pt>
                <c:pt idx="27">
                  <c:v>Apr-26</c:v>
                </c:pt>
                <c:pt idx="28">
                  <c:v>May-26</c:v>
                </c:pt>
              </c:strCache>
            </c:strRef>
          </c:cat>
          <c:val>
            <c:numRef>
              <c:f>Sheet1!$B$2:$B$30</c:f>
              <c:numCache>
                <c:formatCode>General</c:formatCode>
                <c:ptCount val="29"/>
                <c:pt idx="0">
                  <c:v>20.62</c:v>
                </c:pt>
                <c:pt idx="1">
                  <c:v>19.16</c:v>
                </c:pt>
                <c:pt idx="2">
                  <c:v>13.66</c:v>
                </c:pt>
                <c:pt idx="3">
                  <c:v>17.89</c:v>
                </c:pt>
                <c:pt idx="4">
                  <c:v>20.69</c:v>
                </c:pt>
                <c:pt idx="5">
                  <c:v>16.36</c:v>
                </c:pt>
                <c:pt idx="6">
                  <c:v>14.62</c:v>
                </c:pt>
                <c:pt idx="7">
                  <c:v>14.64</c:v>
                </c:pt>
                <c:pt idx="8">
                  <c:v>16.63</c:v>
                </c:pt>
                <c:pt idx="9">
                  <c:v>16.190000000000001</c:v>
                </c:pt>
                <c:pt idx="10">
                  <c:v>13.5</c:v>
                </c:pt>
                <c:pt idx="11">
                  <c:v>16.04</c:v>
                </c:pt>
                <c:pt idx="12">
                  <c:v>16.89</c:v>
                </c:pt>
                <c:pt idx="13">
                  <c:v>17.420000000000002</c:v>
                </c:pt>
                <c:pt idx="14">
                  <c:v>17.34</c:v>
                </c:pt>
                <c:pt idx="15">
                  <c:v>15.94</c:v>
                </c:pt>
                <c:pt idx="16">
                  <c:v>16.399999999999999</c:v>
                </c:pt>
                <c:pt idx="17">
                  <c:v>14.73</c:v>
                </c:pt>
                <c:pt idx="18">
                  <c:v>16.329999999999998</c:v>
                </c:pt>
                <c:pt idx="19">
                  <c:v>15.97</c:v>
                </c:pt>
                <c:pt idx="20">
                  <c:v>14.05</c:v>
                </c:pt>
                <c:pt idx="21">
                  <c:v>17.14</c:v>
                </c:pt>
                <c:pt idx="22">
                  <c:v>13.19</c:v>
                </c:pt>
                <c:pt idx="23">
                  <c:v>17.079999999999998</c:v>
                </c:pt>
                <c:pt idx="24">
                  <c:v>15.02</c:v>
                </c:pt>
                <c:pt idx="25">
                  <c:v>12.53</c:v>
                </c:pt>
                <c:pt idx="26">
                  <c:v>14.48</c:v>
                </c:pt>
                <c:pt idx="27">
                  <c:v>17.170000000000002</c:v>
                </c:pt>
                <c:pt idx="28">
                  <c:v>15.94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FAC-4241-B2EA-872F744EBE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solidFill>
              <a:srgbClr val="F0DCC0"/>
            </a:solidFill>
          </a:ln>
        </c:spPr>
        <c:txPr>
          <a:bodyPr/>
          <a:lstStyle/>
          <a:p>
            <a:pPr>
              <a:defRPr sz="900"/>
            </a:pPr>
            <a:endParaRPr lang="en-US"/>
          </a:p>
        </c:txPr>
        <c:crossAx val="2140495176"/>
        <c:crosses val="autoZero"/>
        <c:auto val="1"/>
        <c:lblAlgn val="ctr"/>
        <c:lblOffset val="100"/>
        <c:tickLblSkip val="5"/>
        <c:noMultiLvlLbl val="0"/>
      </c:catAx>
      <c:valAx>
        <c:axId val="2140495176"/>
        <c:scaling>
          <c:orientation val="minMax"/>
          <c:max val="22"/>
          <c:min val="10"/>
        </c:scaling>
        <c:delete val="0"/>
        <c:axPos val="l"/>
        <c:majorGridlines>
          <c:spPr>
            <a:ln>
              <a:solidFill>
                <a:srgbClr val="F0DCC0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  <a:endParaRPr lang="en-US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900">
          <a:solidFill>
            <a:srgbClr val="5A463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E3C79B"/>
            </a:solidFill>
          </c:spPr>
          <c:invertIfNegative val="0"/>
          <c:dPt>
            <c:idx val="0"/>
            <c:invertIfNegative val="1"/>
            <c:bubble3D val="0"/>
            <c:spPr>
              <a:solidFill>
                <a:srgbClr val="E3C79B"/>
              </a:solidFill>
            </c:spPr>
            <c:extLst>
              <c:ext xmlns:c16="http://schemas.microsoft.com/office/drawing/2014/chart" uri="{C3380CC4-5D6E-409C-BE32-E72D297353CC}">
                <c16:uniqueId val="{00000001-DFA1-4C29-B32D-CAF3A1EA611A}"/>
              </c:ext>
            </c:extLst>
          </c:dPt>
          <c:dPt>
            <c:idx val="1"/>
            <c:invertIfNegative val="1"/>
            <c:bubble3D val="0"/>
            <c:spPr>
              <a:solidFill>
                <a:srgbClr val="E8871E"/>
              </a:solidFill>
            </c:spPr>
            <c:extLst>
              <c:ext xmlns:c16="http://schemas.microsoft.com/office/drawing/2014/chart" uri="{C3380CC4-5D6E-409C-BE32-E72D297353CC}">
                <c16:uniqueId val="{00000003-DFA1-4C29-B32D-CAF3A1EA611A}"/>
              </c:ext>
            </c:extLst>
          </c:dPt>
          <c:dLbls>
            <c:numFmt formatCode="\$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5A4636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Not readmitted</c:v>
                </c:pt>
                <c:pt idx="1">
                  <c:v>Readmitted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15900</c:v>
                </c:pt>
                <c:pt idx="1">
                  <c:v>18451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FA1-4C29-B32D-CAF3A1EA611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solidFill>
              <a:srgbClr val="F0DCC0"/>
            </a:solidFill>
          </a:ln>
        </c:spPr>
        <c:txPr>
          <a:bodyPr/>
          <a:lstStyle/>
          <a:p>
            <a:pPr>
              <a:defRPr sz="10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2150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000">
          <a:solidFill>
            <a:srgbClr val="5A463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E3C79B"/>
            </a:solidFill>
          </c:spPr>
          <c:invertIfNegative val="0"/>
          <c:dPt>
            <c:idx val="0"/>
            <c:invertIfNegative val="1"/>
            <c:bubble3D val="0"/>
            <c:spPr>
              <a:solidFill>
                <a:srgbClr val="E8871E"/>
              </a:solidFill>
            </c:spPr>
            <c:extLst>
              <c:ext xmlns:c16="http://schemas.microsoft.com/office/drawing/2014/chart" uri="{C3380CC4-5D6E-409C-BE32-E72D297353CC}">
                <c16:uniqueId val="{00000001-7D14-4FD9-9CF2-D012A3978D5B}"/>
              </c:ext>
            </c:extLst>
          </c:dPt>
          <c:dPt>
            <c:idx val="1"/>
            <c:invertIfNegative val="1"/>
            <c:bubble3D val="0"/>
            <c:spPr>
              <a:solidFill>
                <a:srgbClr val="E8871E"/>
              </a:solidFill>
            </c:spPr>
            <c:extLst>
              <c:ext xmlns:c16="http://schemas.microsoft.com/office/drawing/2014/chart" uri="{C3380CC4-5D6E-409C-BE32-E72D297353CC}">
                <c16:uniqueId val="{00000003-7D14-4FD9-9CF2-D012A3978D5B}"/>
              </c:ext>
            </c:extLst>
          </c:dPt>
          <c:dPt>
            <c:idx val="2"/>
            <c:invertIfNegative val="1"/>
            <c:bubble3D val="0"/>
            <c:spPr>
              <a:solidFill>
                <a:srgbClr val="E8871E"/>
              </a:solidFill>
            </c:spPr>
            <c:extLst>
              <c:ext xmlns:c16="http://schemas.microsoft.com/office/drawing/2014/chart" uri="{C3380CC4-5D6E-409C-BE32-E72D297353CC}">
                <c16:uniqueId val="{00000005-7D14-4FD9-9CF2-D012A3978D5B}"/>
              </c:ext>
            </c:extLst>
          </c:dPt>
          <c:dPt>
            <c:idx val="3"/>
            <c:invertIfNegative val="1"/>
            <c:bubble3D val="0"/>
            <c:spPr>
              <a:solidFill>
                <a:srgbClr val="E3C79B"/>
              </a:solidFill>
            </c:spPr>
            <c:extLst>
              <c:ext xmlns:c16="http://schemas.microsoft.com/office/drawing/2014/chart" uri="{C3380CC4-5D6E-409C-BE32-E72D297353CC}">
                <c16:uniqueId val="{00000007-7D14-4FD9-9CF2-D012A3978D5B}"/>
              </c:ext>
            </c:extLst>
          </c:dPt>
          <c:dPt>
            <c:idx val="4"/>
            <c:invertIfNegative val="1"/>
            <c:bubble3D val="0"/>
            <c:spPr>
              <a:solidFill>
                <a:srgbClr val="E3C79B"/>
              </a:solidFill>
            </c:spPr>
            <c:extLst>
              <c:ext xmlns:c16="http://schemas.microsoft.com/office/drawing/2014/chart" uri="{C3380CC4-5D6E-409C-BE32-E72D297353CC}">
                <c16:uniqueId val="{00000009-7D14-4FD9-9CF2-D012A3978D5B}"/>
              </c:ext>
            </c:extLst>
          </c:dPt>
          <c:dPt>
            <c:idx val="5"/>
            <c:invertIfNegative val="1"/>
            <c:bubble3D val="0"/>
            <c:spPr>
              <a:solidFill>
                <a:srgbClr val="E3C79B"/>
              </a:solidFill>
            </c:spPr>
            <c:extLst>
              <c:ext xmlns:c16="http://schemas.microsoft.com/office/drawing/2014/chart" uri="{C3380CC4-5D6E-409C-BE32-E72D297353CC}">
                <c16:uniqueId val="{0000000B-7D14-4FD9-9CF2-D012A3978D5B}"/>
              </c:ext>
            </c:extLst>
          </c:dPt>
          <c:dPt>
            <c:idx val="6"/>
            <c:invertIfNegative val="1"/>
            <c:bubble3D val="0"/>
            <c:spPr>
              <a:solidFill>
                <a:srgbClr val="E3C79B"/>
              </a:solidFill>
            </c:spPr>
            <c:extLst>
              <c:ext xmlns:c16="http://schemas.microsoft.com/office/drawing/2014/chart" uri="{C3380CC4-5D6E-409C-BE32-E72D297353CC}">
                <c16:uniqueId val="{0000000D-7D14-4FD9-9CF2-D012A3978D5B}"/>
              </c:ext>
            </c:extLst>
          </c:dPt>
          <c:dPt>
            <c:idx val="7"/>
            <c:invertIfNegative val="1"/>
            <c:bubble3D val="0"/>
            <c:spPr>
              <a:solidFill>
                <a:srgbClr val="E3C79B"/>
              </a:solidFill>
            </c:spPr>
            <c:extLst>
              <c:ext xmlns:c16="http://schemas.microsoft.com/office/drawing/2014/chart" uri="{C3380CC4-5D6E-409C-BE32-E72D297353CC}">
                <c16:uniqueId val="{0000000F-7D14-4FD9-9CF2-D012A3978D5B}"/>
              </c:ext>
            </c:extLst>
          </c:dPt>
          <c:dPt>
            <c:idx val="8"/>
            <c:invertIfNegative val="1"/>
            <c:bubble3D val="0"/>
            <c:spPr>
              <a:solidFill>
                <a:srgbClr val="E3C79B"/>
              </a:solidFill>
            </c:spPr>
            <c:extLst>
              <c:ext xmlns:c16="http://schemas.microsoft.com/office/drawing/2014/chart" uri="{C3380CC4-5D6E-409C-BE32-E72D297353CC}">
                <c16:uniqueId val="{00000011-7D14-4FD9-9CF2-D012A3978D5B}"/>
              </c:ext>
            </c:extLst>
          </c:dPt>
          <c:dPt>
            <c:idx val="9"/>
            <c:invertIfNegative val="1"/>
            <c:bubble3D val="0"/>
            <c:spPr>
              <a:solidFill>
                <a:srgbClr val="E3C79B"/>
              </a:solidFill>
            </c:spPr>
            <c:extLst>
              <c:ext xmlns:c16="http://schemas.microsoft.com/office/drawing/2014/chart" uri="{C3380CC4-5D6E-409C-BE32-E72D297353CC}">
                <c16:uniqueId val="{00000013-7D14-4FD9-9CF2-D012A3978D5B}"/>
              </c:ext>
            </c:extLst>
          </c:dPt>
          <c:dPt>
            <c:idx val="10"/>
            <c:invertIfNegative val="1"/>
            <c:bubble3D val="0"/>
            <c:spPr>
              <a:solidFill>
                <a:srgbClr val="E3C79B"/>
              </a:solidFill>
            </c:spPr>
            <c:extLst>
              <c:ext xmlns:c16="http://schemas.microsoft.com/office/drawing/2014/chart" uri="{C3380CC4-5D6E-409C-BE32-E72D297353CC}">
                <c16:uniqueId val="{00000015-7D14-4FD9-9CF2-D012A3978D5B}"/>
              </c:ext>
            </c:extLst>
          </c:dPt>
          <c:dPt>
            <c:idx val="11"/>
            <c:invertIfNegative val="1"/>
            <c:bubble3D val="0"/>
            <c:spPr>
              <a:solidFill>
                <a:srgbClr val="E3C79B"/>
              </a:solidFill>
            </c:spPr>
            <c:extLst>
              <c:ext xmlns:c16="http://schemas.microsoft.com/office/drawing/2014/chart" uri="{C3380CC4-5D6E-409C-BE32-E72D297353CC}">
                <c16:uniqueId val="{00000017-7D14-4FD9-9CF2-D012A3978D5B}"/>
              </c:ext>
            </c:extLst>
          </c:dPt>
          <c:dPt>
            <c:idx val="12"/>
            <c:invertIfNegative val="1"/>
            <c:bubble3D val="0"/>
            <c:spPr>
              <a:solidFill>
                <a:srgbClr val="E3C79B"/>
              </a:solidFill>
            </c:spPr>
            <c:extLst>
              <c:ext xmlns:c16="http://schemas.microsoft.com/office/drawing/2014/chart" uri="{C3380CC4-5D6E-409C-BE32-E72D297353CC}">
                <c16:uniqueId val="{00000019-7D14-4FD9-9CF2-D012A3978D5B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5A4636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Sheet1!$A$2:$A$14</c:f>
              <c:strCache>
                <c:ptCount val="13"/>
                <c:pt idx="0">
                  <c:v>Heart Failure</c:v>
                </c:pt>
                <c:pt idx="1">
                  <c:v>COPD Exacerbation</c:v>
                </c:pt>
                <c:pt idx="2">
                  <c:v>Chronic Kidney Disease</c:v>
                </c:pt>
                <c:pt idx="3">
                  <c:v>Sepsis</c:v>
                </c:pt>
                <c:pt idx="4">
                  <c:v>Stroke</c:v>
                </c:pt>
                <c:pt idx="5">
                  <c:v>Diabetes Complications</c:v>
                </c:pt>
                <c:pt idx="6">
                  <c:v>Pneumonia</c:v>
                </c:pt>
                <c:pt idx="7">
                  <c:v>Acute Myocardial Infarction</c:v>
                </c:pt>
                <c:pt idx="8">
                  <c:v>Urinary Tract Infection</c:v>
                </c:pt>
                <c:pt idx="9">
                  <c:v>GI Bleed</c:v>
                </c:pt>
                <c:pt idx="10">
                  <c:v>Dehydration</c:v>
                </c:pt>
                <c:pt idx="11">
                  <c:v>Cellulitis</c:v>
                </c:pt>
                <c:pt idx="12">
                  <c:v>Hypertensive Crisis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22.74</c:v>
                </c:pt>
                <c:pt idx="1">
                  <c:v>19.649999999999999</c:v>
                </c:pt>
                <c:pt idx="2">
                  <c:v>17.47</c:v>
                </c:pt>
                <c:pt idx="3">
                  <c:v>17.36</c:v>
                </c:pt>
                <c:pt idx="4">
                  <c:v>16.72</c:v>
                </c:pt>
                <c:pt idx="5">
                  <c:v>16.22</c:v>
                </c:pt>
                <c:pt idx="6">
                  <c:v>15</c:v>
                </c:pt>
                <c:pt idx="7">
                  <c:v>14.65</c:v>
                </c:pt>
                <c:pt idx="8">
                  <c:v>11.2</c:v>
                </c:pt>
                <c:pt idx="9">
                  <c:v>9.86</c:v>
                </c:pt>
                <c:pt idx="10">
                  <c:v>9.3800000000000008</c:v>
                </c:pt>
                <c:pt idx="11">
                  <c:v>8.6199999999999992</c:v>
                </c:pt>
                <c:pt idx="12">
                  <c:v>7.18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A-7D14-4FD9-9CF2-D012A3978D5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>
            <a:solidFill>
              <a:srgbClr val="F0DCC0"/>
            </a:solidFill>
          </a:ln>
        </c:spPr>
        <c:txPr>
          <a:bodyPr/>
          <a:lstStyle/>
          <a:p>
            <a:pPr>
              <a:defRPr sz="1100" baseline="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27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000">
          <a:solidFill>
            <a:srgbClr val="5A463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E3C79B"/>
            </a:solidFill>
          </c:spPr>
          <c:invertIfNegative val="0"/>
          <c:dPt>
            <c:idx val="0"/>
            <c:invertIfNegative val="1"/>
            <c:bubble3D val="0"/>
            <c:spPr>
              <a:solidFill>
                <a:srgbClr val="E8871E"/>
              </a:solidFill>
            </c:spPr>
            <c:extLst>
              <c:ext xmlns:c16="http://schemas.microsoft.com/office/drawing/2014/chart" uri="{C3380CC4-5D6E-409C-BE32-E72D297353CC}">
                <c16:uniqueId val="{00000001-2CB4-4061-8CD4-061B8F5C3658}"/>
              </c:ext>
            </c:extLst>
          </c:dPt>
          <c:dPt>
            <c:idx val="1"/>
            <c:invertIfNegative val="1"/>
            <c:bubble3D val="0"/>
            <c:spPr>
              <a:solidFill>
                <a:srgbClr val="E8871E"/>
              </a:solidFill>
            </c:spPr>
            <c:extLst>
              <c:ext xmlns:c16="http://schemas.microsoft.com/office/drawing/2014/chart" uri="{C3380CC4-5D6E-409C-BE32-E72D297353CC}">
                <c16:uniqueId val="{00000003-2CB4-4061-8CD4-061B8F5C3658}"/>
              </c:ext>
            </c:extLst>
          </c:dPt>
          <c:dPt>
            <c:idx val="2"/>
            <c:invertIfNegative val="1"/>
            <c:bubble3D val="0"/>
            <c:spPr>
              <a:solidFill>
                <a:srgbClr val="E8871E"/>
              </a:solidFill>
            </c:spPr>
            <c:extLst>
              <c:ext xmlns:c16="http://schemas.microsoft.com/office/drawing/2014/chart" uri="{C3380CC4-5D6E-409C-BE32-E72D297353CC}">
                <c16:uniqueId val="{00000005-2CB4-4061-8CD4-061B8F5C3658}"/>
              </c:ext>
            </c:extLst>
          </c:dPt>
          <c:dPt>
            <c:idx val="3"/>
            <c:invertIfNegative val="1"/>
            <c:bubble3D val="0"/>
            <c:spPr>
              <a:solidFill>
                <a:srgbClr val="E8871E"/>
              </a:solidFill>
            </c:spPr>
            <c:extLst>
              <c:ext xmlns:c16="http://schemas.microsoft.com/office/drawing/2014/chart" uri="{C3380CC4-5D6E-409C-BE32-E72D297353CC}">
                <c16:uniqueId val="{00000007-2CB4-4061-8CD4-061B8F5C3658}"/>
              </c:ext>
            </c:extLst>
          </c:dPt>
          <c:dPt>
            <c:idx val="4"/>
            <c:invertIfNegative val="1"/>
            <c:bubble3D val="0"/>
            <c:spPr>
              <a:solidFill>
                <a:srgbClr val="E3C79B"/>
              </a:solidFill>
            </c:spPr>
            <c:extLst>
              <c:ext xmlns:c16="http://schemas.microsoft.com/office/drawing/2014/chart" uri="{C3380CC4-5D6E-409C-BE32-E72D297353CC}">
                <c16:uniqueId val="{00000009-2CB4-4061-8CD4-061B8F5C3658}"/>
              </c:ext>
            </c:extLst>
          </c:dPt>
          <c:dPt>
            <c:idx val="5"/>
            <c:invertIfNegative val="1"/>
            <c:bubble3D val="0"/>
            <c:spPr>
              <a:solidFill>
                <a:srgbClr val="E3C79B"/>
              </a:solidFill>
            </c:spPr>
            <c:extLst>
              <c:ext xmlns:c16="http://schemas.microsoft.com/office/drawing/2014/chart" uri="{C3380CC4-5D6E-409C-BE32-E72D297353CC}">
                <c16:uniqueId val="{0000000B-2CB4-4061-8CD4-061B8F5C3658}"/>
              </c:ext>
            </c:extLst>
          </c:dPt>
          <c:dPt>
            <c:idx val="6"/>
            <c:invertIfNegative val="1"/>
            <c:bubble3D val="0"/>
            <c:spPr>
              <a:solidFill>
                <a:srgbClr val="E3C79B"/>
              </a:solidFill>
            </c:spPr>
            <c:extLst>
              <c:ext xmlns:c16="http://schemas.microsoft.com/office/drawing/2014/chart" uri="{C3380CC4-5D6E-409C-BE32-E72D297353CC}">
                <c16:uniqueId val="{0000000D-2CB4-4061-8CD4-061B8F5C3658}"/>
              </c:ext>
            </c:extLst>
          </c:dPt>
          <c:dPt>
            <c:idx val="7"/>
            <c:invertIfNegative val="1"/>
            <c:bubble3D val="0"/>
            <c:spPr>
              <a:solidFill>
                <a:srgbClr val="E3C79B"/>
              </a:solidFill>
            </c:spPr>
            <c:extLst>
              <c:ext xmlns:c16="http://schemas.microsoft.com/office/drawing/2014/chart" uri="{C3380CC4-5D6E-409C-BE32-E72D297353CC}">
                <c16:uniqueId val="{0000000F-2CB4-4061-8CD4-061B8F5C3658}"/>
              </c:ext>
            </c:extLst>
          </c:dPt>
          <c:dPt>
            <c:idx val="8"/>
            <c:invertIfNegative val="1"/>
            <c:bubble3D val="0"/>
            <c:spPr>
              <a:solidFill>
                <a:srgbClr val="E3C79B"/>
              </a:solidFill>
            </c:spPr>
            <c:extLst>
              <c:ext xmlns:c16="http://schemas.microsoft.com/office/drawing/2014/chart" uri="{C3380CC4-5D6E-409C-BE32-E72D297353CC}">
                <c16:uniqueId val="{00000011-2CB4-4061-8CD4-061B8F5C3658}"/>
              </c:ext>
            </c:extLst>
          </c:dPt>
          <c:dLbls>
            <c:numFmt formatCode="\+0.00;\-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>
                    <a:solidFill>
                      <a:srgbClr val="5A4636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Mid-Atlantic States</c:v>
                </c:pt>
                <c:pt idx="1">
                  <c:v>Georgia</c:v>
                </c:pt>
                <c:pt idx="2">
                  <c:v>Nevada</c:v>
                </c:pt>
                <c:pt idx="3">
                  <c:v>Northwest (OR / SW WA)</c:v>
                </c:pt>
                <c:pt idx="4">
                  <c:v>Colorado</c:v>
                </c:pt>
                <c:pt idx="5">
                  <c:v>Southern California</c:v>
                </c:pt>
                <c:pt idx="6">
                  <c:v>Northern California</c:v>
                </c:pt>
                <c:pt idx="7">
                  <c:v>Hawaii</c:v>
                </c:pt>
                <c:pt idx="8">
                  <c:v>Washington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3.97</c:v>
                </c:pt>
                <c:pt idx="1">
                  <c:v>1.31</c:v>
                </c:pt>
                <c:pt idx="2">
                  <c:v>1.25</c:v>
                </c:pt>
                <c:pt idx="3">
                  <c:v>0.23</c:v>
                </c:pt>
                <c:pt idx="4">
                  <c:v>-0.05</c:v>
                </c:pt>
                <c:pt idx="5">
                  <c:v>-0.56000000000000005</c:v>
                </c:pt>
                <c:pt idx="6">
                  <c:v>-0.57999999999999996</c:v>
                </c:pt>
                <c:pt idx="7">
                  <c:v>-1.36</c:v>
                </c:pt>
                <c:pt idx="8">
                  <c:v>-1.46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2CB4-4061-8CD4-061B8F5C365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low"/>
        <c:spPr>
          <a:ln>
            <a:solidFill>
              <a:srgbClr val="F0DCC0"/>
            </a:solidFill>
          </a:ln>
        </c:spPr>
        <c:txPr>
          <a:bodyPr/>
          <a:lstStyle/>
          <a:p>
            <a:pPr>
              <a:defRPr sz="1100" baseline="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5.5"/>
          <c:min val="-3.2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solidFill>
            <a:srgbClr val="5A463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E3C79B"/>
            </a:solidFill>
          </c:spPr>
          <c:invertIfNegative val="0"/>
          <c:dPt>
            <c:idx val="0"/>
            <c:invertIfNegative val="1"/>
            <c:bubble3D val="0"/>
            <c:spPr>
              <a:solidFill>
                <a:srgbClr val="E8871E"/>
              </a:solidFill>
            </c:spPr>
            <c:extLst>
              <c:ext xmlns:c16="http://schemas.microsoft.com/office/drawing/2014/chart" uri="{C3380CC4-5D6E-409C-BE32-E72D297353CC}">
                <c16:uniqueId val="{00000001-58EB-4494-8758-6FEF58741F41}"/>
              </c:ext>
            </c:extLst>
          </c:dPt>
          <c:dPt>
            <c:idx val="1"/>
            <c:invertIfNegative val="1"/>
            <c:bubble3D val="0"/>
            <c:spPr>
              <a:solidFill>
                <a:srgbClr val="E3C79B"/>
              </a:solidFill>
            </c:spPr>
            <c:extLst>
              <c:ext xmlns:c16="http://schemas.microsoft.com/office/drawing/2014/chart" uri="{C3380CC4-5D6E-409C-BE32-E72D297353CC}">
                <c16:uniqueId val="{00000003-58EB-4494-8758-6FEF58741F41}"/>
              </c:ext>
            </c:extLst>
          </c:dPt>
          <c:dPt>
            <c:idx val="2"/>
            <c:invertIfNegative val="1"/>
            <c:bubble3D val="0"/>
            <c:spPr>
              <a:solidFill>
                <a:srgbClr val="E3C79B"/>
              </a:solidFill>
            </c:spPr>
            <c:extLst>
              <c:ext xmlns:c16="http://schemas.microsoft.com/office/drawing/2014/chart" uri="{C3380CC4-5D6E-409C-BE32-E72D297353CC}">
                <c16:uniqueId val="{00000005-58EB-4494-8758-6FEF58741F41}"/>
              </c:ext>
            </c:extLst>
          </c:dPt>
          <c:dPt>
            <c:idx val="3"/>
            <c:invertIfNegative val="1"/>
            <c:bubble3D val="0"/>
            <c:spPr>
              <a:solidFill>
                <a:srgbClr val="E3C79B"/>
              </a:solidFill>
            </c:spPr>
            <c:extLst>
              <c:ext xmlns:c16="http://schemas.microsoft.com/office/drawing/2014/chart" uri="{C3380CC4-5D6E-409C-BE32-E72D297353CC}">
                <c16:uniqueId val="{00000007-58EB-4494-8758-6FEF58741F41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baseline="0">
                    <a:solidFill>
                      <a:srgbClr val="5A4636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80+</c:v>
                </c:pt>
                <c:pt idx="1">
                  <c:v>65-79</c:v>
                </c:pt>
                <c:pt idx="2">
                  <c:v>45-64</c:v>
                </c:pt>
                <c:pt idx="3">
                  <c:v>18-44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24.64</c:v>
                </c:pt>
                <c:pt idx="1">
                  <c:v>16.16</c:v>
                </c:pt>
                <c:pt idx="2">
                  <c:v>11.1</c:v>
                </c:pt>
                <c:pt idx="3">
                  <c:v>7.82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8EB-4494-8758-6FEF58741F4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>
            <a:solidFill>
              <a:srgbClr val="F0DCC0"/>
            </a:solidFill>
          </a:ln>
        </c:spPr>
        <c:txPr>
          <a:bodyPr/>
          <a:lstStyle/>
          <a:p>
            <a:pPr>
              <a:defRPr sz="1100" baseline="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32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solidFill>
            <a:srgbClr val="5A463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E3C79B"/>
            </a:solidFill>
          </c:spPr>
          <c:invertIfNegative val="0"/>
          <c:dPt>
            <c:idx val="0"/>
            <c:invertIfNegative val="1"/>
            <c:bubble3D val="0"/>
            <c:spPr>
              <a:solidFill>
                <a:srgbClr val="E8871E"/>
              </a:solidFill>
            </c:spPr>
            <c:extLst>
              <c:ext xmlns:c16="http://schemas.microsoft.com/office/drawing/2014/chart" uri="{C3380CC4-5D6E-409C-BE32-E72D297353CC}">
                <c16:uniqueId val="{00000001-BF4C-49A6-A95D-8054DF33F645}"/>
              </c:ext>
            </c:extLst>
          </c:dPt>
          <c:dPt>
            <c:idx val="1"/>
            <c:invertIfNegative val="1"/>
            <c:bubble3D val="0"/>
            <c:spPr>
              <a:solidFill>
                <a:srgbClr val="E8871E"/>
              </a:solidFill>
            </c:spPr>
            <c:extLst>
              <c:ext xmlns:c16="http://schemas.microsoft.com/office/drawing/2014/chart" uri="{C3380CC4-5D6E-409C-BE32-E72D297353CC}">
                <c16:uniqueId val="{00000003-BF4C-49A6-A95D-8054DF33F645}"/>
              </c:ext>
            </c:extLst>
          </c:dPt>
          <c:dPt>
            <c:idx val="2"/>
            <c:invertIfNegative val="1"/>
            <c:bubble3D val="0"/>
            <c:spPr>
              <a:solidFill>
                <a:srgbClr val="E3C79B"/>
              </a:solidFill>
            </c:spPr>
            <c:extLst>
              <c:ext xmlns:c16="http://schemas.microsoft.com/office/drawing/2014/chart" uri="{C3380CC4-5D6E-409C-BE32-E72D297353CC}">
                <c16:uniqueId val="{00000005-BF4C-49A6-A95D-8054DF33F645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baseline="0">
                    <a:solidFill>
                      <a:srgbClr val="5A4636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Long (8d+)</c:v>
                </c:pt>
                <c:pt idx="1">
                  <c:v>Medium (4-7d)</c:v>
                </c:pt>
                <c:pt idx="2">
                  <c:v>Short (1-3d)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24.39</c:v>
                </c:pt>
                <c:pt idx="1">
                  <c:v>17.12</c:v>
                </c:pt>
                <c:pt idx="2">
                  <c:v>12.65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F4C-49A6-A95D-8054DF33F64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>
            <a:solidFill>
              <a:srgbClr val="F0DCC0"/>
            </a:solidFill>
          </a:ln>
        </c:spPr>
        <c:txPr>
          <a:bodyPr/>
          <a:lstStyle/>
          <a:p>
            <a:pPr>
              <a:defRPr sz="1100" baseline="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32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solidFill>
            <a:srgbClr val="5A463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E3C79B"/>
            </a:solidFill>
          </c:spPr>
          <c:invertIfNegative val="0"/>
          <c:dPt>
            <c:idx val="0"/>
            <c:invertIfNegative val="1"/>
            <c:bubble3D val="0"/>
            <c:spPr>
              <a:solidFill>
                <a:srgbClr val="E8871E"/>
              </a:solidFill>
            </c:spPr>
            <c:extLst>
              <c:ext xmlns:c16="http://schemas.microsoft.com/office/drawing/2014/chart" uri="{C3380CC4-5D6E-409C-BE32-E72D297353CC}">
                <c16:uniqueId val="{00000001-37D8-4E69-9D8C-585A2CED248B}"/>
              </c:ext>
            </c:extLst>
          </c:dPt>
          <c:dPt>
            <c:idx val="1"/>
            <c:invertIfNegative val="1"/>
            <c:bubble3D val="0"/>
            <c:spPr>
              <a:solidFill>
                <a:srgbClr val="E8871E"/>
              </a:solidFill>
            </c:spPr>
            <c:extLst>
              <c:ext xmlns:c16="http://schemas.microsoft.com/office/drawing/2014/chart" uri="{C3380CC4-5D6E-409C-BE32-E72D297353CC}">
                <c16:uniqueId val="{00000003-37D8-4E69-9D8C-585A2CED248B}"/>
              </c:ext>
            </c:extLst>
          </c:dPt>
          <c:dPt>
            <c:idx val="2"/>
            <c:invertIfNegative val="1"/>
            <c:bubble3D val="0"/>
            <c:spPr>
              <a:solidFill>
                <a:srgbClr val="E3C79B"/>
              </a:solidFill>
            </c:spPr>
            <c:extLst>
              <c:ext xmlns:c16="http://schemas.microsoft.com/office/drawing/2014/chart" uri="{C3380CC4-5D6E-409C-BE32-E72D297353CC}">
                <c16:uniqueId val="{00000005-37D8-4E69-9D8C-585A2CED248B}"/>
              </c:ext>
            </c:extLst>
          </c:dPt>
          <c:dPt>
            <c:idx val="3"/>
            <c:invertIfNegative val="1"/>
            <c:bubble3D val="0"/>
            <c:spPr>
              <a:solidFill>
                <a:srgbClr val="E3C79B"/>
              </a:solidFill>
            </c:spPr>
            <c:extLst>
              <c:ext xmlns:c16="http://schemas.microsoft.com/office/drawing/2014/chart" uri="{C3380CC4-5D6E-409C-BE32-E72D297353CC}">
                <c16:uniqueId val="{00000007-37D8-4E69-9D8C-585A2CED248B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baseline="0">
                    <a:solidFill>
                      <a:srgbClr val="5A4636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Poorly controlled (9+)</c:v>
                </c:pt>
                <c:pt idx="1">
                  <c:v>Diabetic (6.5-8.9)</c:v>
                </c:pt>
                <c:pt idx="2">
                  <c:v>Normal (&lt;5.7)</c:v>
                </c:pt>
                <c:pt idx="3">
                  <c:v>Pre-diabetic (5.7-6.4)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22.64</c:v>
                </c:pt>
                <c:pt idx="1">
                  <c:v>18.71</c:v>
                </c:pt>
                <c:pt idx="2">
                  <c:v>14.29</c:v>
                </c:pt>
                <c:pt idx="3">
                  <c:v>13.83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7D8-4E69-9D8C-585A2CED248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>
            <a:solidFill>
              <a:srgbClr val="F0DCC0"/>
            </a:solidFill>
          </a:ln>
        </c:spPr>
        <c:txPr>
          <a:bodyPr/>
          <a:lstStyle/>
          <a:p>
            <a:pPr>
              <a:defRPr sz="1100" baseline="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32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solidFill>
            <a:srgbClr val="5A463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E3C79B"/>
            </a:solidFill>
          </c:spPr>
          <c:invertIfNegative val="0"/>
          <c:dPt>
            <c:idx val="0"/>
            <c:invertIfNegative val="1"/>
            <c:bubble3D val="0"/>
            <c:spPr>
              <a:solidFill>
                <a:srgbClr val="E8871E"/>
              </a:solidFill>
            </c:spPr>
            <c:extLst>
              <c:ext xmlns:c16="http://schemas.microsoft.com/office/drawing/2014/chart" uri="{C3380CC4-5D6E-409C-BE32-E72D297353CC}">
                <c16:uniqueId val="{00000001-24D6-4865-8F06-9A0BB491BFB5}"/>
              </c:ext>
            </c:extLst>
          </c:dPt>
          <c:dPt>
            <c:idx val="1"/>
            <c:invertIfNegative val="1"/>
            <c:bubble3D val="0"/>
            <c:spPr>
              <a:solidFill>
                <a:srgbClr val="E8871E"/>
              </a:solidFill>
            </c:spPr>
            <c:extLst>
              <c:ext xmlns:c16="http://schemas.microsoft.com/office/drawing/2014/chart" uri="{C3380CC4-5D6E-409C-BE32-E72D297353CC}">
                <c16:uniqueId val="{00000003-24D6-4865-8F06-9A0BB491BFB5}"/>
              </c:ext>
            </c:extLst>
          </c:dPt>
          <c:dPt>
            <c:idx val="2"/>
            <c:invertIfNegative val="1"/>
            <c:bubble3D val="0"/>
            <c:spPr>
              <a:solidFill>
                <a:srgbClr val="E3C79B"/>
              </a:solidFill>
            </c:spPr>
            <c:extLst>
              <c:ext xmlns:c16="http://schemas.microsoft.com/office/drawing/2014/chart" uri="{C3380CC4-5D6E-409C-BE32-E72D297353CC}">
                <c16:uniqueId val="{00000005-24D6-4865-8F06-9A0BB491BFB5}"/>
              </c:ext>
            </c:extLst>
          </c:dPt>
          <c:dPt>
            <c:idx val="3"/>
            <c:invertIfNegative val="1"/>
            <c:bubble3D val="0"/>
            <c:spPr>
              <a:solidFill>
                <a:srgbClr val="E3C79B"/>
              </a:solidFill>
            </c:spPr>
            <c:extLst>
              <c:ext xmlns:c16="http://schemas.microsoft.com/office/drawing/2014/chart" uri="{C3380CC4-5D6E-409C-BE32-E72D297353CC}">
                <c16:uniqueId val="{00000007-24D6-4865-8F06-9A0BB491BFB5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baseline="0">
                    <a:solidFill>
                      <a:srgbClr val="5A4636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Medicare Adv.</c:v>
                </c:pt>
                <c:pt idx="1">
                  <c:v>Medicaid</c:v>
                </c:pt>
                <c:pt idx="2">
                  <c:v>Commercial</c:v>
                </c:pt>
                <c:pt idx="3">
                  <c:v>ACA Marketplace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19.079999999999998</c:v>
                </c:pt>
                <c:pt idx="1">
                  <c:v>18.46</c:v>
                </c:pt>
                <c:pt idx="2">
                  <c:v>12.45</c:v>
                </c:pt>
                <c:pt idx="3">
                  <c:v>11.69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4D6-4865-8F06-9A0BB491BFB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>
            <a:solidFill>
              <a:srgbClr val="F0DCC0"/>
            </a:solidFill>
          </a:ln>
        </c:spPr>
        <c:txPr>
          <a:bodyPr/>
          <a:lstStyle/>
          <a:p>
            <a:pPr>
              <a:defRPr sz="1100" baseline="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32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solidFill>
            <a:srgbClr val="5A463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E3C79B"/>
            </a:solidFill>
          </c:spPr>
          <c:invertIfNegative val="0"/>
          <c:dPt>
            <c:idx val="0"/>
            <c:invertIfNegative val="1"/>
            <c:bubble3D val="0"/>
            <c:spPr>
              <a:solidFill>
                <a:srgbClr val="E8871E"/>
              </a:solidFill>
            </c:spPr>
            <c:extLst>
              <c:ext xmlns:c16="http://schemas.microsoft.com/office/drawing/2014/chart" uri="{C3380CC4-5D6E-409C-BE32-E72D297353CC}">
                <c16:uniqueId val="{00000001-69D1-4000-BDEA-00273D8AECF7}"/>
              </c:ext>
            </c:extLst>
          </c:dPt>
          <c:dPt>
            <c:idx val="1"/>
            <c:invertIfNegative val="1"/>
            <c:bubble3D val="0"/>
            <c:spPr>
              <a:solidFill>
                <a:srgbClr val="E8871E"/>
              </a:solidFill>
            </c:spPr>
            <c:extLst>
              <c:ext xmlns:c16="http://schemas.microsoft.com/office/drawing/2014/chart" uri="{C3380CC4-5D6E-409C-BE32-E72D297353CC}">
                <c16:uniqueId val="{00000003-69D1-4000-BDEA-00273D8AECF7}"/>
              </c:ext>
            </c:extLst>
          </c:dPt>
          <c:dPt>
            <c:idx val="2"/>
            <c:invertIfNegative val="1"/>
            <c:bubble3D val="0"/>
            <c:spPr>
              <a:solidFill>
                <a:srgbClr val="E8871E"/>
              </a:solidFill>
            </c:spPr>
            <c:extLst>
              <c:ext xmlns:c16="http://schemas.microsoft.com/office/drawing/2014/chart" uri="{C3380CC4-5D6E-409C-BE32-E72D297353CC}">
                <c16:uniqueId val="{00000005-69D1-4000-BDEA-00273D8AECF7}"/>
              </c:ext>
            </c:extLst>
          </c:dPt>
          <c:dPt>
            <c:idx val="3"/>
            <c:invertIfNegative val="1"/>
            <c:bubble3D val="0"/>
            <c:spPr>
              <a:solidFill>
                <a:srgbClr val="E8871E"/>
              </a:solidFill>
            </c:spPr>
            <c:extLst>
              <c:ext xmlns:c16="http://schemas.microsoft.com/office/drawing/2014/chart" uri="{C3380CC4-5D6E-409C-BE32-E72D297353CC}">
                <c16:uniqueId val="{00000007-69D1-4000-BDEA-00273D8AECF7}"/>
              </c:ext>
            </c:extLst>
          </c:dPt>
          <c:dPt>
            <c:idx val="4"/>
            <c:invertIfNegative val="1"/>
            <c:bubble3D val="0"/>
            <c:spPr>
              <a:solidFill>
                <a:srgbClr val="E3C79B"/>
              </a:solidFill>
            </c:spPr>
            <c:extLst>
              <c:ext xmlns:c16="http://schemas.microsoft.com/office/drawing/2014/chart" uri="{C3380CC4-5D6E-409C-BE32-E72D297353CC}">
                <c16:uniqueId val="{00000009-69D1-4000-BDEA-00273D8AECF7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baseline="0">
                    <a:solidFill>
                      <a:srgbClr val="5A4636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Left AMA</c:v>
                </c:pt>
                <c:pt idx="1">
                  <c:v>Skilled nursing</c:v>
                </c:pt>
                <c:pt idx="2">
                  <c:v>Home + home health</c:v>
                </c:pt>
                <c:pt idx="3">
                  <c:v>Inpatient rehab</c:v>
                </c:pt>
                <c:pt idx="4">
                  <c:v>Home (self-care)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25.14</c:v>
                </c:pt>
                <c:pt idx="1">
                  <c:v>21.51</c:v>
                </c:pt>
                <c:pt idx="2">
                  <c:v>17.36</c:v>
                </c:pt>
                <c:pt idx="3">
                  <c:v>16.3</c:v>
                </c:pt>
                <c:pt idx="4">
                  <c:v>15.03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69D1-4000-BDEA-00273D8AECF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>
            <a:solidFill>
              <a:srgbClr val="F0DCC0"/>
            </a:solidFill>
          </a:ln>
        </c:spPr>
        <c:txPr>
          <a:bodyPr/>
          <a:lstStyle/>
          <a:p>
            <a:pPr>
              <a:defRPr sz="1100" baseline="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32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solidFill>
            <a:srgbClr val="5A463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E3C79B"/>
            </a:solidFill>
          </c:spPr>
          <c:invertIfNegative val="0"/>
          <c:dPt>
            <c:idx val="0"/>
            <c:invertIfNegative val="1"/>
            <c:bubble3D val="0"/>
            <c:spPr>
              <a:solidFill>
                <a:srgbClr val="E8871E"/>
              </a:solidFill>
            </c:spPr>
            <c:extLst>
              <c:ext xmlns:c16="http://schemas.microsoft.com/office/drawing/2014/chart" uri="{C3380CC4-5D6E-409C-BE32-E72D297353CC}">
                <c16:uniqueId val="{00000001-9137-40AC-B807-EB29513B2832}"/>
              </c:ext>
            </c:extLst>
          </c:dPt>
          <c:dPt>
            <c:idx val="1"/>
            <c:invertIfNegative val="1"/>
            <c:bubble3D val="0"/>
            <c:spPr>
              <a:solidFill>
                <a:srgbClr val="E3C79B"/>
              </a:solidFill>
            </c:spPr>
            <c:extLst>
              <c:ext xmlns:c16="http://schemas.microsoft.com/office/drawing/2014/chart" uri="{C3380CC4-5D6E-409C-BE32-E72D297353CC}">
                <c16:uniqueId val="{00000003-9137-40AC-B807-EB29513B2832}"/>
              </c:ext>
            </c:extLst>
          </c:dPt>
          <c:dPt>
            <c:idx val="2"/>
            <c:invertIfNegative val="1"/>
            <c:bubble3D val="0"/>
            <c:spPr>
              <a:solidFill>
                <a:srgbClr val="E8871E"/>
              </a:solidFill>
            </c:spPr>
            <c:extLst>
              <c:ext xmlns:c16="http://schemas.microsoft.com/office/drawing/2014/chart" uri="{C3380CC4-5D6E-409C-BE32-E72D297353CC}">
                <c16:uniqueId val="{00000005-9137-40AC-B807-EB29513B2832}"/>
              </c:ext>
            </c:extLst>
          </c:dPt>
          <c:dPt>
            <c:idx val="3"/>
            <c:invertIfNegative val="1"/>
            <c:bubble3D val="0"/>
            <c:spPr>
              <a:solidFill>
                <a:srgbClr val="E3C79B"/>
              </a:solidFill>
            </c:spPr>
            <c:extLst>
              <c:ext xmlns:c16="http://schemas.microsoft.com/office/drawing/2014/chart" uri="{C3380CC4-5D6E-409C-BE32-E72D297353CC}">
                <c16:uniqueId val="{00000007-9137-40AC-B807-EB29513B2832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baseline="0">
                    <a:solidFill>
                      <a:srgbClr val="5A4636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Lives alone</c:v>
                </c:pt>
                <c:pt idx="1">
                  <c:v>Not alone</c:v>
                </c:pt>
                <c:pt idx="2">
                  <c:v>No 7-day follow-up</c:v>
                </c:pt>
                <c:pt idx="3">
                  <c:v>7-day follow-up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23.4</c:v>
                </c:pt>
                <c:pt idx="1">
                  <c:v>13.77</c:v>
                </c:pt>
                <c:pt idx="2">
                  <c:v>20</c:v>
                </c:pt>
                <c:pt idx="3">
                  <c:v>14.14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137-40AC-B807-EB29513B283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>
            <a:solidFill>
              <a:srgbClr val="F0DCC0"/>
            </a:solidFill>
          </a:ln>
        </c:spPr>
        <c:txPr>
          <a:bodyPr/>
          <a:lstStyle/>
          <a:p>
            <a:pPr>
              <a:defRPr sz="1100" baseline="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32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>
          <a:solidFill>
            <a:srgbClr val="5A463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E3C79B"/>
            </a:solidFill>
          </c:spPr>
          <c:invertIfNegative val="0"/>
          <c:dPt>
            <c:idx val="0"/>
            <c:invertIfNegative val="1"/>
            <c:bubble3D val="0"/>
            <c:spPr>
              <a:solidFill>
                <a:srgbClr val="E8871E"/>
              </a:solidFill>
            </c:spPr>
            <c:extLst>
              <c:ext xmlns:c16="http://schemas.microsoft.com/office/drawing/2014/chart" uri="{C3380CC4-5D6E-409C-BE32-E72D297353CC}">
                <c16:uniqueId val="{00000001-B08C-49BD-A359-395A8232687D}"/>
              </c:ext>
            </c:extLst>
          </c:dPt>
          <c:dPt>
            <c:idx val="1"/>
            <c:invertIfNegative val="1"/>
            <c:bubble3D val="0"/>
            <c:spPr>
              <a:solidFill>
                <a:srgbClr val="E8871E"/>
              </a:solidFill>
            </c:spPr>
            <c:extLst>
              <c:ext xmlns:c16="http://schemas.microsoft.com/office/drawing/2014/chart" uri="{C3380CC4-5D6E-409C-BE32-E72D297353CC}">
                <c16:uniqueId val="{00000003-B08C-49BD-A359-395A8232687D}"/>
              </c:ext>
            </c:extLst>
          </c:dPt>
          <c:dPt>
            <c:idx val="2"/>
            <c:invertIfNegative val="1"/>
            <c:bubble3D val="0"/>
            <c:spPr>
              <a:solidFill>
                <a:srgbClr val="E8871E"/>
              </a:solidFill>
            </c:spPr>
            <c:extLst>
              <c:ext xmlns:c16="http://schemas.microsoft.com/office/drawing/2014/chart" uri="{C3380CC4-5D6E-409C-BE32-E72D297353CC}">
                <c16:uniqueId val="{00000005-B08C-49BD-A359-395A8232687D}"/>
              </c:ext>
            </c:extLst>
          </c:dPt>
          <c:dPt>
            <c:idx val="3"/>
            <c:invertIfNegative val="1"/>
            <c:bubble3D val="0"/>
            <c:spPr>
              <a:solidFill>
                <a:srgbClr val="E3C79B"/>
              </a:solidFill>
            </c:spPr>
            <c:extLst>
              <c:ext xmlns:c16="http://schemas.microsoft.com/office/drawing/2014/chart" uri="{C3380CC4-5D6E-409C-BE32-E72D297353CC}">
                <c16:uniqueId val="{00000007-B08C-49BD-A359-395A8232687D}"/>
              </c:ext>
            </c:extLst>
          </c:dPt>
          <c:dPt>
            <c:idx val="4"/>
            <c:invertIfNegative val="1"/>
            <c:bubble3D val="0"/>
            <c:spPr>
              <a:solidFill>
                <a:srgbClr val="E3C79B"/>
              </a:solidFill>
            </c:spPr>
            <c:extLst>
              <c:ext xmlns:c16="http://schemas.microsoft.com/office/drawing/2014/chart" uri="{C3380CC4-5D6E-409C-BE32-E72D297353CC}">
                <c16:uniqueId val="{00000009-B08C-49BD-A359-395A8232687D}"/>
              </c:ext>
            </c:extLst>
          </c:dPt>
          <c:dPt>
            <c:idx val="5"/>
            <c:invertIfNegative val="1"/>
            <c:bubble3D val="0"/>
            <c:spPr>
              <a:solidFill>
                <a:srgbClr val="E3C79B"/>
              </a:solidFill>
            </c:spPr>
            <c:extLst>
              <c:ext xmlns:c16="http://schemas.microsoft.com/office/drawing/2014/chart" uri="{C3380CC4-5D6E-409C-BE32-E72D297353CC}">
                <c16:uniqueId val="{0000000B-B08C-49BD-A359-395A8232687D}"/>
              </c:ext>
            </c:extLst>
          </c:dPt>
          <c:dPt>
            <c:idx val="6"/>
            <c:invertIfNegative val="1"/>
            <c:bubble3D val="0"/>
            <c:spPr>
              <a:solidFill>
                <a:srgbClr val="E3C79B"/>
              </a:solidFill>
            </c:spPr>
            <c:extLst>
              <c:ext xmlns:c16="http://schemas.microsoft.com/office/drawing/2014/chart" uri="{C3380CC4-5D6E-409C-BE32-E72D297353CC}">
                <c16:uniqueId val="{0000000D-B08C-49BD-A359-395A8232687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80+ years (24.6%)</c:v>
                </c:pt>
                <c:pt idx="1">
                  <c:v>Lives alone (23.4%)</c:v>
                </c:pt>
                <c:pt idx="2">
                  <c:v>No 7-day follow-up (20.0%)</c:v>
                </c:pt>
                <c:pt idx="3">
                  <c:v>Medicare Advantage (19.1%)</c:v>
                </c:pt>
                <c:pt idx="4">
                  <c:v>Long stay (8d+) (24.4%)</c:v>
                </c:pt>
                <c:pt idx="5">
                  <c:v>HbA1c 9+ (22.6%)</c:v>
                </c:pt>
                <c:pt idx="6">
                  <c:v>Skilled nursing discharge (21.5%)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326</c:v>
                </c:pt>
                <c:pt idx="1">
                  <c:v>237</c:v>
                </c:pt>
                <c:pt idx="2">
                  <c:v>174</c:v>
                </c:pt>
                <c:pt idx="3">
                  <c:v>164</c:v>
                </c:pt>
                <c:pt idx="4">
                  <c:v>144</c:v>
                </c:pt>
                <c:pt idx="5">
                  <c:v>89</c:v>
                </c:pt>
                <c:pt idx="6">
                  <c:v>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B08C-49BD-A359-395A8232687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>
            <a:solidFill>
              <a:srgbClr val="F0DCC0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400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200" baseline="0">
          <a:solidFill>
            <a:srgbClr val="5A463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0237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84713-6924-60FD-604B-30E5A11342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3F9E2A-A8A4-07D0-D791-A980E68A7F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EA65EB-674B-2EC7-C33F-C5F80A6CE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3558EE-91E7-3089-6C4A-E2367C420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FC11C-CBB7-89E6-BE30-F3D33BA29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969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E8780-509E-D827-3B99-383840AA5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B5C35-0D05-1AC8-2254-8D86CD3011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851CC7-23B2-B0D8-C071-DC38807B5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03B880-3305-E2E9-1A89-7AE5B58D0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F30527-2866-BC42-5401-8B1FA53B0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31583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4B9EF-F9BB-2417-A7FF-D51F7EAB7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E8AF1D-35DA-F62A-CFF5-9608A56E0E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8CB22-095E-1AEC-C81B-16669EF27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41B462-DE0B-B8AA-B025-2CFF3B130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B37A15-CBC1-06A9-4DA3-0EA9DF954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75977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6D00E-3584-E331-DF7D-23A997961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85611A-0D7E-2A62-6B02-A18149BDD8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03DF70-3D9F-27B9-DE28-20E2CF8582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E87F29-DA39-3A6D-EE10-6CE497205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10/27/2026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7E8548-4B9F-A480-3C82-F006EF8AB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1BCAD0-ACBC-372E-A117-2988A0C77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06494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BA080-3A4D-B7A5-FF7F-BDE4DD421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1D8BBC-1041-5A45-4A20-CBBF5DA041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6F8175-6B13-4E82-0499-6F171B74D7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697FD2-C5FC-A984-B76B-CFE9F789E1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51DD73-4A8E-7DDC-53CB-CD87A04F65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6914F5-A439-0185-A837-E5A424337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10/27/2026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1AB7E0-7BC0-7237-1AC3-9201E7061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A6563C-7065-B18F-7F28-AF5D2B65D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67156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AA604-D5DE-DBA6-519C-14E39AFD5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790E54-70BC-2899-307C-065391943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10/27/2026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193B1E-3D2A-4F7A-BE36-721BAEFDF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29D28B-0A7C-57F1-93DF-8B55D3049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62689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2B425A-EF5E-7D0D-DD46-FA9B8CE4A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10/27/2026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1E1791-7FBA-6609-9AFE-4B04E6967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F66D8A-14E0-AC0D-11A6-7CB9FB2AC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95331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7EFD3-1D30-2A83-2FB4-B83917F82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556F6C-E362-65A5-DADF-76F923C992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9EEEDE-5E31-5133-0F37-9F392CD2FC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296495-4E63-3948-C382-4942503A6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10/27/2026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1D4F65-BA72-FF88-AAC2-FDAA54F88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871145-A475-B8EA-C264-B0F323041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68870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83FC3-F81F-CB12-53EE-8265BC88E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375CEB-D89B-039C-CD9C-5660291178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AAD0B5-FA0D-70E1-9DB7-A1484BE6F7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C709A0-1541-C155-42B9-1F7C91A9A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10/27/2026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A93B93-F5C2-26AC-0F2B-FFBE2E03F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8F413C-CDC1-1D18-DC68-66C6C4870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23349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6F8F2-0048-5C4A-51D1-7FE9CEE4D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EB9C6D-3169-FC7F-E2DD-73D0485FFF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274014-181E-0205-537A-DE248A120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4D23DE-75B5-AB4D-67CF-993BA3DDB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521961-54FD-A49B-9957-33C8E5F4E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72682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C3B75B-5BA7-F64B-6A7E-F1908F1F81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E16443-5972-2135-F5D8-9A25A6074C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7C5DC8-3226-EC03-0405-0687B8AA4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3DCDC2-1736-AF52-8918-3660FAF07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65CE39-CB89-9CFA-675B-5450356C6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34188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202462-D306-4BB7-A3D0-BE0650310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0F99AC-CE32-FA7B-A5D7-21802BF756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C8AB2F-6260-1B5A-CBE3-0F7244A278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10/27/2026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33782-B750-343E-4B3F-ACA5B2F714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1BAC94-D7A4-0F4C-884F-1DC32DB1CC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E90F28-AFBB-4AB2-AA79-6D3F72ED131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649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hart" Target="../charts/chart9.xml"/><Relationship Id="rId3" Type="http://schemas.openxmlformats.org/officeDocument/2006/relationships/image" Target="../media/image2.png"/><Relationship Id="rId7" Type="http://schemas.openxmlformats.org/officeDocument/2006/relationships/chart" Target="../charts/chart8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7.xml"/><Relationship Id="rId5" Type="http://schemas.openxmlformats.org/officeDocument/2006/relationships/chart" Target="../charts/chart6.xml"/><Relationship Id="rId4" Type="http://schemas.openxmlformats.org/officeDocument/2006/relationships/chart" Target="../charts/chart5.xml"/><Relationship Id="rId9" Type="http://schemas.openxmlformats.org/officeDocument/2006/relationships/chart" Target="../charts/char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91640"/>
          </a:xfrm>
          <a:prstGeom prst="rect">
            <a:avLst/>
          </a:prstGeom>
          <a:solidFill>
            <a:srgbClr val="FBE3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>
            <a:spLocks/>
          </p:cNvSpPr>
          <p:nvPr/>
        </p:nvSpPr>
        <p:spPr>
          <a:xfrm>
            <a:off x="0" y="1691640"/>
            <a:ext cx="12188952" cy="64008"/>
          </a:xfrm>
          <a:prstGeom prst="rect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48056"/>
            <a:ext cx="1554480" cy="186423"/>
          </a:xfrm>
          <a:prstGeom prst="rect">
            <a:avLst/>
          </a:prstGeom>
        </p:spPr>
      </p:pic>
      <p:pic>
        <p:nvPicPr>
          <p:cNvPr id="5" name="Imag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6818" y="349243"/>
            <a:ext cx="432054" cy="3840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606040" y="384048"/>
            <a:ext cx="79164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2606040" y="685800"/>
            <a:ext cx="79164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7A3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Scale of the Problem</a:t>
            </a:r>
            <a:endParaRPr lang="en-US" sz="2600" dirty="0"/>
          </a:p>
        </p:txBody>
      </p:sp>
      <p:sp>
        <p:nvSpPr>
          <p:cNvPr id="8" name="Text 4"/>
          <p:cNvSpPr txBox="1"/>
          <p:nvPr/>
        </p:nvSpPr>
        <p:spPr>
          <a:xfrm>
            <a:off x="11274552" y="130759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C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9" name="Rounded Rectangle 8"/>
          <p:cNvSpPr/>
          <p:nvPr/>
        </p:nvSpPr>
        <p:spPr>
          <a:xfrm>
            <a:off x="640080" y="1874519"/>
            <a:ext cx="2590038" cy="868680"/>
          </a:xfrm>
          <a:prstGeom prst="roundRect">
            <a:avLst>
              <a:gd name="adj" fmla="val 4000"/>
            </a:avLst>
          </a:prstGeom>
          <a:solidFill>
            <a:srgbClr val="FFF6EA"/>
          </a:solidFill>
          <a:ln w="15875">
            <a:solidFill>
              <a:srgbClr val="F0DCC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947672"/>
            <a:ext cx="2315718" cy="4343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E8871E"/>
                </a:solidFill>
                <a:latin typeface="Calibri"/>
              </a:rPr>
              <a:t>13,072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352294"/>
            <a:ext cx="2315718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dirty="0">
                <a:solidFill>
                  <a:srgbClr val="5A4636"/>
                </a:solidFill>
                <a:latin typeface="Calibri"/>
              </a:rPr>
              <a:t>admissions reviewed</a:t>
            </a:r>
          </a:p>
          <a:p>
            <a:pPr algn="ctr"/>
            <a:r>
              <a:rPr sz="1200" b="0" i="0" dirty="0">
                <a:solidFill>
                  <a:srgbClr val="5A4636"/>
                </a:solidFill>
                <a:latin typeface="Calibri"/>
              </a:rPr>
              <a:t>Jan-2024 to May-2026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12998" y="1874519"/>
            <a:ext cx="2590038" cy="868680"/>
          </a:xfrm>
          <a:prstGeom prst="roundRect">
            <a:avLst>
              <a:gd name="adj" fmla="val 4000"/>
            </a:avLst>
          </a:prstGeom>
          <a:solidFill>
            <a:srgbClr val="FFF6EA"/>
          </a:solidFill>
          <a:ln w="15875">
            <a:solidFill>
              <a:srgbClr val="F0DCC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50158" y="1947672"/>
            <a:ext cx="2315718" cy="4343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E8871E"/>
                </a:solidFill>
                <a:latin typeface="Calibri"/>
              </a:rPr>
              <a:t>16.19%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50158" y="2352294"/>
            <a:ext cx="2315718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dirty="0">
                <a:solidFill>
                  <a:srgbClr val="5A4636"/>
                </a:solidFill>
                <a:latin typeface="Calibri"/>
              </a:rPr>
              <a:t>readmitted within 30 days</a:t>
            </a:r>
          </a:p>
          <a:p>
            <a:pPr algn="ctr"/>
            <a:r>
              <a:rPr sz="1200" b="0" i="0" dirty="0">
                <a:solidFill>
                  <a:srgbClr val="5A4636"/>
                </a:solidFill>
                <a:latin typeface="Calibri"/>
              </a:rPr>
              <a:t>(2,116 patients)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5916" y="1874519"/>
            <a:ext cx="2590038" cy="868680"/>
          </a:xfrm>
          <a:prstGeom prst="roundRect">
            <a:avLst>
              <a:gd name="adj" fmla="val 4000"/>
            </a:avLst>
          </a:prstGeom>
          <a:solidFill>
            <a:srgbClr val="FFF6EA"/>
          </a:solidFill>
          <a:ln w="15875">
            <a:solidFill>
              <a:srgbClr val="F0DCC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23076" y="1947672"/>
            <a:ext cx="2315718" cy="4343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E8871E"/>
                </a:solidFill>
                <a:latin typeface="Calibri"/>
              </a:rPr>
              <a:t>+16%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3076" y="2352294"/>
            <a:ext cx="2315718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dirty="0">
                <a:solidFill>
                  <a:srgbClr val="5A4636"/>
                </a:solidFill>
                <a:latin typeface="Calibri"/>
              </a:rPr>
              <a:t>higher cost per stay</a:t>
            </a:r>
          </a:p>
          <a:p>
            <a:pPr algn="ctr"/>
            <a:r>
              <a:rPr sz="1200" b="0" i="0" dirty="0">
                <a:solidFill>
                  <a:srgbClr val="5A4636"/>
                </a:solidFill>
                <a:latin typeface="Calibri"/>
              </a:rPr>
              <a:t>when readmitted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58834" y="1874519"/>
            <a:ext cx="2590038" cy="868680"/>
          </a:xfrm>
          <a:prstGeom prst="roundRect">
            <a:avLst>
              <a:gd name="adj" fmla="val 4000"/>
            </a:avLst>
          </a:prstGeom>
          <a:solidFill>
            <a:srgbClr val="FFF6EA"/>
          </a:solidFill>
          <a:ln w="15875">
            <a:solidFill>
              <a:srgbClr val="F0DCC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95994" y="1980176"/>
            <a:ext cx="2315718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E8871E"/>
                </a:solidFill>
                <a:latin typeface="Calibri"/>
              </a:rPr>
              <a:t>$3</a:t>
            </a:r>
            <a:r>
              <a:rPr lang="en-US" sz="2400" b="1" i="0" dirty="0">
                <a:solidFill>
                  <a:srgbClr val="E8871E"/>
                </a:solidFill>
                <a:latin typeface="Calibri"/>
              </a:rPr>
              <a:t>9</a:t>
            </a:r>
            <a:r>
              <a:rPr sz="2400" b="1" i="0" dirty="0">
                <a:solidFill>
                  <a:srgbClr val="E8871E"/>
                </a:solidFill>
                <a:latin typeface="Calibri"/>
              </a:rPr>
              <a:t>.</a:t>
            </a:r>
            <a:r>
              <a:rPr lang="en-US" sz="2400" b="1" i="0" dirty="0">
                <a:solidFill>
                  <a:srgbClr val="E8871E"/>
                </a:solidFill>
                <a:latin typeface="Calibri"/>
              </a:rPr>
              <a:t>3</a:t>
            </a:r>
            <a:r>
              <a:rPr sz="2400" b="1" i="0" dirty="0">
                <a:solidFill>
                  <a:srgbClr val="E8871E"/>
                </a:solidFill>
                <a:latin typeface="Calibri"/>
              </a:rPr>
              <a:t>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5994" y="2352294"/>
            <a:ext cx="2315718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dirty="0">
                <a:solidFill>
                  <a:srgbClr val="5A4636"/>
                </a:solidFill>
                <a:latin typeface="Calibri"/>
              </a:rPr>
              <a:t>spent on 2,135</a:t>
            </a:r>
          </a:p>
          <a:p>
            <a:pPr algn="ctr"/>
            <a:r>
              <a:rPr sz="1200" b="0" i="0" dirty="0">
                <a:solidFill>
                  <a:srgbClr val="5A4636"/>
                </a:solidFill>
                <a:latin typeface="Calibri"/>
              </a:rPr>
              <a:t>return-visit stays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2880360"/>
            <a:ext cx="4206240" cy="2926080"/>
          </a:xfrm>
          <a:prstGeom prst="roundRect">
            <a:avLst>
              <a:gd name="adj" fmla="val 4000"/>
            </a:avLst>
          </a:prstGeom>
          <a:solidFill>
            <a:srgbClr val="FFF6EA"/>
          </a:solidFill>
          <a:ln w="15875">
            <a:solidFill>
              <a:srgbClr val="F0DCC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029200" y="2880360"/>
            <a:ext cx="3017520" cy="2926080"/>
          </a:xfrm>
          <a:prstGeom prst="roundRect">
            <a:avLst>
              <a:gd name="adj" fmla="val 4000"/>
            </a:avLst>
          </a:prstGeom>
          <a:solidFill>
            <a:srgbClr val="FFF6EA"/>
          </a:solidFill>
          <a:ln w="15875">
            <a:solidFill>
              <a:srgbClr val="F0DCC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229600" y="2880360"/>
            <a:ext cx="3319272" cy="2926080"/>
          </a:xfrm>
          <a:prstGeom prst="roundRect">
            <a:avLst>
              <a:gd name="adj" fmla="val 4000"/>
            </a:avLst>
          </a:prstGeom>
          <a:solidFill>
            <a:srgbClr val="FFF6EA"/>
          </a:solidFill>
          <a:ln w="15875">
            <a:solidFill>
              <a:srgbClr val="F0DCC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59" y="2953512"/>
            <a:ext cx="38404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7A3E10"/>
                </a:solidFill>
                <a:latin typeface="Calibri"/>
              </a:rPr>
              <a:t>Monthly readmission rate (%)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731519" y="3200400"/>
          <a:ext cx="4023359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822959" y="5303520"/>
            <a:ext cx="3840479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7A3E10"/>
                </a:solidFill>
                <a:latin typeface="Calibri"/>
              </a:rPr>
              <a:t>2024 16.7% → 2025 16.1% → 2026 YTD 15.1%</a:t>
            </a:r>
            <a:r>
              <a:rPr sz="1400" b="0" i="0" dirty="0">
                <a:solidFill>
                  <a:srgbClr val="5A4636"/>
                </a:solidFill>
                <a:latin typeface="Calibri"/>
              </a:rPr>
              <a:t> - edging down, ~450 admissions a month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0" y="2953512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7A3E10"/>
                </a:solidFill>
                <a:latin typeface="Calibri"/>
              </a:rPr>
              <a:t>Average cost per admission</a:t>
            </a:r>
          </a:p>
        </p:txBody>
      </p:sp>
      <p:graphicFrame>
        <p:nvGraphicFramePr>
          <p:cNvPr id="28" name="Chart 27"/>
          <p:cNvGraphicFramePr>
            <a:graphicFrameLocks noGrp="1"/>
          </p:cNvGraphicFramePr>
          <p:nvPr/>
        </p:nvGraphicFramePr>
        <p:xfrm>
          <a:off x="5120640" y="3200400"/>
          <a:ext cx="2834639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5212080" y="5349240"/>
            <a:ext cx="265176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E8871E"/>
                </a:solidFill>
                <a:latin typeface="Calibri"/>
              </a:rPr>
              <a:t>18.3% </a:t>
            </a:r>
            <a:r>
              <a:rPr sz="1400" b="0" i="0" dirty="0">
                <a:solidFill>
                  <a:srgbClr val="5A4636"/>
                </a:solidFill>
                <a:latin typeface="Calibri"/>
              </a:rPr>
              <a:t>of spend from 16.2% of admissions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2953512"/>
            <a:ext cx="29535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7A3E10"/>
                </a:solidFill>
                <a:latin typeface="Calibri"/>
              </a:rPr>
              <a:t>Behind the numbers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3291840"/>
            <a:ext cx="2953512" cy="20261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 i="0" dirty="0">
                <a:solidFill>
                  <a:srgbClr val="7A3E10"/>
                </a:solidFill>
                <a:latin typeface="Calibri"/>
              </a:rPr>
              <a:t>Data prepared: </a:t>
            </a:r>
            <a:r>
              <a:rPr sz="1500" b="0" i="0" dirty="0">
                <a:solidFill>
                  <a:srgbClr val="5A4636"/>
                </a:solidFill>
                <a:latin typeface="Calibri"/>
              </a:rPr>
              <a:t>5 datasets joined into one view; all 15,000 admissions kept, 13,072 in the reporting window.</a:t>
            </a:r>
          </a:p>
          <a:p>
            <a:pPr algn="l">
              <a:spcAft>
                <a:spcPts val="700"/>
              </a:spcAft>
            </a:pPr>
            <a:r>
              <a:rPr sz="1500" b="1" i="0" dirty="0">
                <a:solidFill>
                  <a:srgbClr val="7A3E10"/>
                </a:solidFill>
                <a:latin typeface="Calibri"/>
              </a:rPr>
              <a:t>Safeguards: </a:t>
            </a:r>
            <a:r>
              <a:rPr sz="1500" b="0" i="0" dirty="0">
                <a:solidFill>
                  <a:srgbClr val="5A4636"/>
                </a:solidFill>
                <a:latin typeface="Calibri"/>
              </a:rPr>
              <a:t>implausible clinical values set to missing, not deleted.</a:t>
            </a:r>
          </a:p>
          <a:p>
            <a:pPr algn="l">
              <a:spcAft>
                <a:spcPts val="700"/>
              </a:spcAft>
            </a:pPr>
            <a:r>
              <a:rPr sz="1500" b="1" i="0" dirty="0">
                <a:solidFill>
                  <a:srgbClr val="7A3E10"/>
                </a:solidFill>
                <a:latin typeface="Calibri"/>
              </a:rPr>
              <a:t>Frequent utilizers: </a:t>
            </a:r>
            <a:r>
              <a:rPr sz="1500" b="0" i="0" dirty="0">
                <a:solidFill>
                  <a:srgbClr val="5A4636"/>
                </a:solidFill>
                <a:latin typeface="Calibri"/>
              </a:rPr>
              <a:t>top 25 patients had 6-9 admissions each; the costliest cost $435K, 1.5x the next-highest.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943600"/>
            <a:ext cx="10908792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dirty="0">
                <a:solidFill>
                  <a:srgbClr val="7A3E10"/>
                </a:solidFill>
                <a:latin typeface="Calibri"/>
              </a:rPr>
              <a:t>Key insight - </a:t>
            </a:r>
            <a:r>
              <a:rPr sz="1500" b="0" i="0" dirty="0">
                <a:solidFill>
                  <a:srgbClr val="5A4636"/>
                </a:solidFill>
                <a:latin typeface="Calibri"/>
              </a:rPr>
              <a:t>About 1 in 6 admissions ends in a 30-day readmission, each costing more than a normal stay and adding up to $36.1M in return visits.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91640"/>
          </a:xfrm>
          <a:prstGeom prst="rect">
            <a:avLst/>
          </a:prstGeom>
          <a:solidFill>
            <a:srgbClr val="FBE3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>
            <a:spLocks/>
          </p:cNvSpPr>
          <p:nvPr/>
        </p:nvSpPr>
        <p:spPr>
          <a:xfrm>
            <a:off x="0" y="1691640"/>
            <a:ext cx="12188952" cy="64008"/>
          </a:xfrm>
          <a:prstGeom prst="rect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48056"/>
            <a:ext cx="1554480" cy="186423"/>
          </a:xfrm>
          <a:prstGeom prst="rect">
            <a:avLst/>
          </a:prstGeom>
        </p:spPr>
      </p:pic>
      <p:pic>
        <p:nvPicPr>
          <p:cNvPr id="5" name="Imag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6818" y="349243"/>
            <a:ext cx="432054" cy="3840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606040" y="384048"/>
            <a:ext cx="79164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2606040" y="685800"/>
            <a:ext cx="79164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7A3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Readmissions Concentrate</a:t>
            </a:r>
            <a:endParaRPr lang="en-US" sz="2600" dirty="0"/>
          </a:p>
        </p:txBody>
      </p:sp>
      <p:sp>
        <p:nvSpPr>
          <p:cNvPr id="8" name="Text 4"/>
          <p:cNvSpPr txBox="1"/>
          <p:nvPr/>
        </p:nvSpPr>
        <p:spPr>
          <a:xfrm>
            <a:off x="11274552" y="130759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C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9" name="Rounded Rectangle 8"/>
          <p:cNvSpPr/>
          <p:nvPr/>
        </p:nvSpPr>
        <p:spPr>
          <a:xfrm>
            <a:off x="640080" y="1874519"/>
            <a:ext cx="5362956" cy="3931920"/>
          </a:xfrm>
          <a:prstGeom prst="roundRect">
            <a:avLst>
              <a:gd name="adj" fmla="val 4000"/>
            </a:avLst>
          </a:prstGeom>
          <a:solidFill>
            <a:srgbClr val="FFF6EA"/>
          </a:solidFill>
          <a:ln w="15875">
            <a:solidFill>
              <a:srgbClr val="F0DCC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" y="1965960"/>
            <a:ext cx="4997196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7A3E10"/>
                </a:solidFill>
                <a:latin typeface="Calibri"/>
              </a:rPr>
              <a:t>30-day readmission rate by condition (%)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7239614"/>
              </p:ext>
            </p:extLst>
          </p:nvPr>
        </p:nvGraphicFramePr>
        <p:xfrm>
          <a:off x="731519" y="2240279"/>
          <a:ext cx="5180076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185916" y="1874519"/>
            <a:ext cx="5362956" cy="2697480"/>
          </a:xfrm>
          <a:prstGeom prst="roundRect">
            <a:avLst>
              <a:gd name="adj" fmla="val 4000"/>
            </a:avLst>
          </a:prstGeom>
          <a:solidFill>
            <a:srgbClr val="FFF6EA"/>
          </a:solidFill>
          <a:ln w="15875">
            <a:solidFill>
              <a:srgbClr val="F0DCC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68796" y="1947672"/>
            <a:ext cx="4997196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7A3E10"/>
                </a:solidFill>
                <a:latin typeface="Calibri"/>
              </a:rPr>
              <a:t>Gap vs 16.19% overall rate, by region (pp)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9602583"/>
              </p:ext>
            </p:extLst>
          </p:nvPr>
        </p:nvGraphicFramePr>
        <p:xfrm>
          <a:off x="6277356" y="2194560"/>
          <a:ext cx="5180076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6185916" y="4709160"/>
            <a:ext cx="5362956" cy="1097280"/>
          </a:xfrm>
          <a:prstGeom prst="roundRect">
            <a:avLst>
              <a:gd name="adj" fmla="val 4000"/>
            </a:avLst>
          </a:prstGeom>
          <a:solidFill>
            <a:srgbClr val="FFF6EA"/>
          </a:solidFill>
          <a:ln w="15875">
            <a:solidFill>
              <a:srgbClr val="F0DCC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68796" y="4782312"/>
            <a:ext cx="4997196" cy="9002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 dirty="0">
                <a:solidFill>
                  <a:srgbClr val="7A3E10"/>
                </a:solidFill>
                <a:latin typeface="Calibri"/>
              </a:rPr>
              <a:t>Hospitals: </a:t>
            </a:r>
            <a:r>
              <a:rPr sz="1400" b="0" i="0" dirty="0">
                <a:solidFill>
                  <a:srgbClr val="5A4636"/>
                </a:solidFill>
                <a:latin typeface="Calibri"/>
              </a:rPr>
              <a:t>Alexandria (Mid-Atlantic) is highest at 22.67%; all three Mid-Atlantic hospitals rank in the top 3.</a:t>
            </a:r>
          </a:p>
          <a:p>
            <a:pPr algn="l">
              <a:spcAft>
                <a:spcPts val="300"/>
              </a:spcAft>
            </a:pPr>
            <a:r>
              <a:rPr sz="1400" b="1" i="0" dirty="0">
                <a:solidFill>
                  <a:srgbClr val="7A3E10"/>
                </a:solidFill>
                <a:latin typeface="Calibri"/>
              </a:rPr>
              <a:t>Not a length-of-stay issue: </a:t>
            </a:r>
            <a:r>
              <a:rPr sz="1400" b="0" i="0" dirty="0">
                <a:solidFill>
                  <a:srgbClr val="5A4636"/>
                </a:solidFill>
                <a:latin typeface="Calibri"/>
              </a:rPr>
              <a:t>LOS is 4.4-5.0 days everywhere (r = -0.05 with readmission).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43600"/>
            <a:ext cx="10908792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dirty="0">
                <a:solidFill>
                  <a:srgbClr val="7A3E10"/>
                </a:solidFill>
                <a:latin typeface="Calibri"/>
              </a:rPr>
              <a:t>Key insight - </a:t>
            </a:r>
            <a:r>
              <a:rPr sz="1500" b="0" i="0" dirty="0">
                <a:solidFill>
                  <a:srgbClr val="5A4636"/>
                </a:solidFill>
                <a:latin typeface="Calibri"/>
              </a:rPr>
              <a:t>Heart Failure (22.7%), COPD (19.7%) and Kidney Disease (17.5%) cause 42% of readmissions, and Mid-Atlantic runs about 4 points above average on only 9% of admissions.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91640"/>
          </a:xfrm>
          <a:prstGeom prst="rect">
            <a:avLst/>
          </a:prstGeom>
          <a:solidFill>
            <a:srgbClr val="FBE3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>
            <a:spLocks/>
          </p:cNvSpPr>
          <p:nvPr/>
        </p:nvSpPr>
        <p:spPr>
          <a:xfrm>
            <a:off x="0" y="1691640"/>
            <a:ext cx="12188952" cy="64008"/>
          </a:xfrm>
          <a:prstGeom prst="rect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48056"/>
            <a:ext cx="1554480" cy="186423"/>
          </a:xfrm>
          <a:prstGeom prst="rect">
            <a:avLst/>
          </a:prstGeom>
        </p:spPr>
      </p:pic>
      <p:pic>
        <p:nvPicPr>
          <p:cNvPr id="5" name="Imag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6818" y="349243"/>
            <a:ext cx="432054" cy="3840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606040" y="384048"/>
            <a:ext cx="79164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2606040" y="685800"/>
            <a:ext cx="79164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7A3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Puts Patients at Risk</a:t>
            </a:r>
            <a:endParaRPr lang="en-US" sz="2600" dirty="0"/>
          </a:p>
        </p:txBody>
      </p:sp>
      <p:sp>
        <p:nvSpPr>
          <p:cNvPr id="8" name="Text 4"/>
          <p:cNvSpPr txBox="1"/>
          <p:nvPr/>
        </p:nvSpPr>
        <p:spPr>
          <a:xfrm>
            <a:off x="11274552" y="130759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C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9" name="Rounded Rectangle 8"/>
          <p:cNvSpPr/>
          <p:nvPr/>
        </p:nvSpPr>
        <p:spPr>
          <a:xfrm>
            <a:off x="640080" y="1874519"/>
            <a:ext cx="3514344" cy="1874519"/>
          </a:xfrm>
          <a:prstGeom prst="roundRect">
            <a:avLst>
              <a:gd name="adj" fmla="val 4000"/>
            </a:avLst>
          </a:prstGeom>
          <a:solidFill>
            <a:srgbClr val="FFF6EA"/>
          </a:solidFill>
          <a:ln w="15875">
            <a:solidFill>
              <a:srgbClr val="F0DCC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929384"/>
            <a:ext cx="3240024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>
                <a:solidFill>
                  <a:srgbClr val="7A3E10"/>
                </a:solidFill>
                <a:latin typeface="Calibri"/>
              </a:rPr>
              <a:t>Age band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8536640"/>
              </p:ext>
            </p:extLst>
          </p:nvPr>
        </p:nvGraphicFramePr>
        <p:xfrm>
          <a:off x="685800" y="2148839"/>
          <a:ext cx="3422904" cy="15544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4337304" y="1874519"/>
            <a:ext cx="3514344" cy="1874519"/>
          </a:xfrm>
          <a:prstGeom prst="roundRect">
            <a:avLst>
              <a:gd name="adj" fmla="val 4000"/>
            </a:avLst>
          </a:prstGeom>
          <a:solidFill>
            <a:srgbClr val="FFF6EA"/>
          </a:solidFill>
          <a:ln w="15875">
            <a:solidFill>
              <a:srgbClr val="F0DCC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74464" y="1929384"/>
            <a:ext cx="3240024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>
                <a:solidFill>
                  <a:srgbClr val="7A3E10"/>
                </a:solidFill>
                <a:latin typeface="Calibri"/>
              </a:rPr>
              <a:t>Length of stay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9138164"/>
              </p:ext>
            </p:extLst>
          </p:nvPr>
        </p:nvGraphicFramePr>
        <p:xfrm>
          <a:off x="4383024" y="2148839"/>
          <a:ext cx="3422904" cy="15544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8034527" y="1874519"/>
            <a:ext cx="3514344" cy="1874519"/>
          </a:xfrm>
          <a:prstGeom prst="roundRect">
            <a:avLst>
              <a:gd name="adj" fmla="val 4000"/>
            </a:avLst>
          </a:prstGeom>
          <a:solidFill>
            <a:srgbClr val="FFF6EA"/>
          </a:solidFill>
          <a:ln w="15875">
            <a:solidFill>
              <a:srgbClr val="F0DCC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71687" y="1929384"/>
            <a:ext cx="3240024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>
                <a:solidFill>
                  <a:srgbClr val="7A3E10"/>
                </a:solidFill>
                <a:latin typeface="Calibri"/>
              </a:rPr>
              <a:t>HbA1c band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6305397"/>
              </p:ext>
            </p:extLst>
          </p:nvPr>
        </p:nvGraphicFramePr>
        <p:xfrm>
          <a:off x="8080247" y="2148839"/>
          <a:ext cx="3422904" cy="15544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640080" y="3886200"/>
            <a:ext cx="3514344" cy="1874519"/>
          </a:xfrm>
          <a:prstGeom prst="roundRect">
            <a:avLst>
              <a:gd name="adj" fmla="val 4000"/>
            </a:avLst>
          </a:prstGeom>
          <a:solidFill>
            <a:srgbClr val="FFF6EA"/>
          </a:solidFill>
          <a:ln w="15875">
            <a:solidFill>
              <a:srgbClr val="F0DCC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3941063"/>
            <a:ext cx="3240024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>
                <a:solidFill>
                  <a:srgbClr val="7A3E10"/>
                </a:solidFill>
                <a:latin typeface="Calibri"/>
              </a:rPr>
              <a:t>Coverage plan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758077"/>
              </p:ext>
            </p:extLst>
          </p:nvPr>
        </p:nvGraphicFramePr>
        <p:xfrm>
          <a:off x="685800" y="4160520"/>
          <a:ext cx="3422904" cy="15544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4337304" y="3886200"/>
            <a:ext cx="3514344" cy="1874519"/>
          </a:xfrm>
          <a:prstGeom prst="roundRect">
            <a:avLst>
              <a:gd name="adj" fmla="val 4000"/>
            </a:avLst>
          </a:prstGeom>
          <a:solidFill>
            <a:srgbClr val="FFF6EA"/>
          </a:solidFill>
          <a:ln w="15875">
            <a:solidFill>
              <a:srgbClr val="F0DCC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74464" y="3941063"/>
            <a:ext cx="3240024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>
                <a:solidFill>
                  <a:srgbClr val="7A3E10"/>
                </a:solidFill>
                <a:latin typeface="Calibri"/>
              </a:rPr>
              <a:t>Discharge disposition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7949505"/>
              </p:ext>
            </p:extLst>
          </p:nvPr>
        </p:nvGraphicFramePr>
        <p:xfrm>
          <a:off x="4383024" y="4160520"/>
          <a:ext cx="3422904" cy="15544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8034527" y="3886200"/>
            <a:ext cx="3514344" cy="1874519"/>
          </a:xfrm>
          <a:prstGeom prst="roundRect">
            <a:avLst>
              <a:gd name="adj" fmla="val 4000"/>
            </a:avLst>
          </a:prstGeom>
          <a:solidFill>
            <a:srgbClr val="FFF6EA"/>
          </a:solidFill>
          <a:ln w="15875">
            <a:solidFill>
              <a:srgbClr val="F0DCC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71687" y="3941063"/>
            <a:ext cx="3240024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dirty="0">
                <a:solidFill>
                  <a:srgbClr val="7A3E10"/>
                </a:solidFill>
                <a:latin typeface="Calibri"/>
              </a:rPr>
              <a:t>Social support &amp; follow-up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8925521"/>
              </p:ext>
            </p:extLst>
          </p:nvPr>
        </p:nvGraphicFramePr>
        <p:xfrm>
          <a:off x="8080247" y="4160520"/>
          <a:ext cx="3422904" cy="15544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640080" y="5943600"/>
            <a:ext cx="10908792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dirty="0">
                <a:solidFill>
                  <a:srgbClr val="7A3E10"/>
                </a:solidFill>
                <a:latin typeface="Calibri"/>
              </a:rPr>
              <a:t>Key EDA insight - </a:t>
            </a:r>
            <a:r>
              <a:rPr sz="1600" b="0" i="0" dirty="0">
                <a:solidFill>
                  <a:srgbClr val="5A4636"/>
                </a:solidFill>
                <a:latin typeface="Calibri"/>
              </a:rPr>
              <a:t>Risk concentrates in 80+ (24.6%), long stays (24.4%), people living alone (23.4%) and HbA1c 9+ (22.6%); patients with a 7-day follow-up readmit at 14.1% vs 20.0% without. Orange = above the 16.19% overall rate.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91640"/>
          </a:xfrm>
          <a:prstGeom prst="rect">
            <a:avLst/>
          </a:prstGeom>
          <a:solidFill>
            <a:srgbClr val="FBE3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>
            <a:spLocks/>
          </p:cNvSpPr>
          <p:nvPr/>
        </p:nvSpPr>
        <p:spPr>
          <a:xfrm>
            <a:off x="0" y="1691640"/>
            <a:ext cx="12188952" cy="64008"/>
          </a:xfrm>
          <a:prstGeom prst="rect">
            <a:avLst/>
          </a:prstGeom>
          <a:solidFill>
            <a:srgbClr val="E8871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48056"/>
            <a:ext cx="1554480" cy="186423"/>
          </a:xfrm>
          <a:prstGeom prst="rect">
            <a:avLst/>
          </a:prstGeom>
        </p:spPr>
      </p:pic>
      <p:pic>
        <p:nvPicPr>
          <p:cNvPr id="5" name="Imag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6818" y="349243"/>
            <a:ext cx="432054" cy="3840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606040" y="384048"/>
            <a:ext cx="79164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13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2606040" y="685800"/>
            <a:ext cx="79164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7A3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Patients &amp; Savings Opportunity</a:t>
            </a:r>
            <a:endParaRPr lang="en-US" sz="2600" dirty="0"/>
          </a:p>
        </p:txBody>
      </p:sp>
      <p:sp>
        <p:nvSpPr>
          <p:cNvPr id="8" name="Text 4"/>
          <p:cNvSpPr txBox="1"/>
          <p:nvPr/>
        </p:nvSpPr>
        <p:spPr>
          <a:xfrm>
            <a:off x="11274552" y="130759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C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9" name="Rounded Rectangle 8"/>
          <p:cNvSpPr/>
          <p:nvPr/>
        </p:nvSpPr>
        <p:spPr>
          <a:xfrm>
            <a:off x="640080" y="1874519"/>
            <a:ext cx="4937760" cy="3931920"/>
          </a:xfrm>
          <a:prstGeom prst="roundRect">
            <a:avLst>
              <a:gd name="adj" fmla="val 4000"/>
            </a:avLst>
          </a:prstGeom>
          <a:solidFill>
            <a:srgbClr val="FFF6EA"/>
          </a:solidFill>
          <a:ln w="15875">
            <a:solidFill>
              <a:srgbClr val="F0DCC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" y="1965960"/>
            <a:ext cx="45720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rgbClr val="7A3E10"/>
                </a:solidFill>
                <a:latin typeface="Calibri"/>
              </a:rPr>
              <a:t>Excess readmissions vs 16.19% average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2922560"/>
              </p:ext>
            </p:extLst>
          </p:nvPr>
        </p:nvGraphicFramePr>
        <p:xfrm>
          <a:off x="731519" y="2240279"/>
          <a:ext cx="475488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7361433"/>
              </p:ext>
            </p:extLst>
          </p:nvPr>
        </p:nvGraphicFramePr>
        <p:xfrm>
          <a:off x="5760720" y="1874519"/>
          <a:ext cx="5788150" cy="3438144"/>
        </p:xfrm>
        <a:graphic>
          <a:graphicData uri="http://schemas.openxmlformats.org/drawingml/2006/table">
            <a:tbl>
              <a:tblPr/>
              <a:tblGrid>
                <a:gridCol w="14841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0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3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88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99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 baseline="0" dirty="0">
                          <a:solidFill>
                            <a:srgbClr val="FFFFFF"/>
                          </a:solidFill>
                          <a:latin typeface="Calibri"/>
                        </a:rPr>
                        <a:t>Group</a:t>
                      </a: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F0DCC0"/>
                      </a:solidFill>
                      <a:prstDash val="solid"/>
                    </a:lnL>
                    <a:lnR w="12700" cap="flat" cmpd="sng" algn="ctr">
                      <a:solidFill>
                        <a:srgbClr val="F0DCC0"/>
                      </a:solidFill>
                      <a:prstDash val="solid"/>
                    </a:lnR>
                    <a:lnT w="12700" cap="flat" cmpd="sng" algn="ctr">
                      <a:solidFill>
                        <a:srgbClr val="F0DCC0"/>
                      </a:solidFill>
                      <a:prstDash val="solid"/>
                    </a:lnT>
                    <a:lnB w="12700" cap="flat" cmpd="sng" algn="ctr">
                      <a:solidFill>
                        <a:srgbClr val="F0DCC0"/>
                      </a:solidFill>
                      <a:prstDash val="solid"/>
                    </a:lnB>
                    <a:solidFill>
                      <a:srgbClr val="E887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baseline="0" dirty="0">
                          <a:solidFill>
                            <a:srgbClr val="FFFFFF"/>
                          </a:solidFill>
                          <a:latin typeface="Calibri"/>
                        </a:rPr>
                        <a:t>Patients</a:t>
                      </a: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F0DCC0"/>
                      </a:solidFill>
                      <a:prstDash val="solid"/>
                    </a:lnL>
                    <a:lnR w="12700" cap="flat" cmpd="sng" algn="ctr">
                      <a:solidFill>
                        <a:srgbClr val="F0DCC0"/>
                      </a:solidFill>
                      <a:prstDash val="solid"/>
                    </a:lnR>
                    <a:lnT w="12700" cap="flat" cmpd="sng" algn="ctr">
                      <a:solidFill>
                        <a:srgbClr val="F0DCC0"/>
                      </a:solidFill>
                      <a:prstDash val="solid"/>
                    </a:lnT>
                    <a:lnB w="12700" cap="flat" cmpd="sng" algn="ctr">
                      <a:solidFill>
                        <a:srgbClr val="F0DCC0"/>
                      </a:solidFill>
                      <a:prstDash val="solid"/>
                    </a:lnB>
                    <a:solidFill>
                      <a:srgbClr val="E887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baseline="0" dirty="0">
                          <a:solidFill>
                            <a:srgbClr val="FFFFFF"/>
                          </a:solidFill>
                          <a:latin typeface="Calibri"/>
                        </a:rPr>
                        <a:t>Rate %</a:t>
                      </a: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F0DCC0"/>
                      </a:solidFill>
                      <a:prstDash val="solid"/>
                    </a:lnL>
                    <a:lnR w="12700" cap="flat" cmpd="sng" algn="ctr">
                      <a:solidFill>
                        <a:srgbClr val="F0DCC0"/>
                      </a:solidFill>
                      <a:prstDash val="solid"/>
                    </a:lnR>
                    <a:lnT w="12700" cap="flat" cmpd="sng" algn="ctr">
                      <a:solidFill>
                        <a:srgbClr val="F0DCC0"/>
                      </a:solidFill>
                      <a:prstDash val="solid"/>
                    </a:lnT>
                    <a:lnB w="12700" cap="flat" cmpd="sng" algn="ctr">
                      <a:solidFill>
                        <a:srgbClr val="F0DCC0"/>
                      </a:solidFill>
                      <a:prstDash val="solid"/>
                    </a:lnB>
                    <a:solidFill>
                      <a:srgbClr val="E887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baseline="0" dirty="0">
                          <a:solidFill>
                            <a:srgbClr val="FFFFFF"/>
                          </a:solidFill>
                          <a:latin typeface="Calibri"/>
                        </a:rPr>
                        <a:t>Suggested lever</a:t>
                      </a: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F0DCC0"/>
                      </a:solidFill>
                      <a:prstDash val="solid"/>
                    </a:lnL>
                    <a:lnR w="12700" cap="flat" cmpd="sng" algn="ctr">
                      <a:solidFill>
                        <a:srgbClr val="F0DCC0"/>
                      </a:solidFill>
                      <a:prstDash val="solid"/>
                    </a:lnR>
                    <a:lnT w="12700" cap="flat" cmpd="sng" algn="ctr">
                      <a:solidFill>
                        <a:srgbClr val="F0DCC0"/>
                      </a:solidFill>
                      <a:prstDash val="solid"/>
                    </a:lnT>
                    <a:lnB w="12700" cap="flat" cmpd="sng" algn="ctr">
                      <a:solidFill>
                        <a:srgbClr val="F0DCC0"/>
                      </a:solidFill>
                      <a:prstDash val="solid"/>
                    </a:lnB>
                    <a:solidFill>
                      <a:srgbClr val="E887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baseline="0">
                          <a:solidFill>
                            <a:srgbClr val="FFFFFF"/>
                          </a:solidFill>
                          <a:latin typeface="Calibri"/>
                        </a:rPr>
                        <a:t>Saving if half closed</a:t>
                      </a: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F0DCC0"/>
                      </a:solidFill>
                      <a:prstDash val="solid"/>
                    </a:lnL>
                    <a:lnR w="12700" cap="flat" cmpd="sng" algn="ctr">
                      <a:solidFill>
                        <a:srgbClr val="F0DCC0"/>
                      </a:solidFill>
                      <a:prstDash val="solid"/>
                    </a:lnR>
                    <a:lnT w="12700" cap="flat" cmpd="sng" algn="ctr">
                      <a:solidFill>
                        <a:srgbClr val="F0DCC0"/>
                      </a:solidFill>
                      <a:prstDash val="solid"/>
                    </a:lnT>
                    <a:lnB w="12700" cap="flat" cmpd="sng" algn="ctr">
                      <a:solidFill>
                        <a:srgbClr val="F0DCC0"/>
                      </a:solidFill>
                      <a:prstDash val="solid"/>
                    </a:lnB>
                    <a:solidFill>
                      <a:srgbClr val="E887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 baseline="0" dirty="0">
                          <a:solidFill>
                            <a:srgbClr val="7A3E10"/>
                          </a:solidFill>
                          <a:latin typeface="Calibri"/>
                        </a:rPr>
                        <a:t>80+ years</a:t>
                      </a: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F0DCC0"/>
                      </a:solidFill>
                      <a:prstDash val="solid"/>
                    </a:lnL>
                    <a:lnR w="12700" cap="flat" cmpd="sng" algn="ctr">
                      <a:solidFill>
                        <a:srgbClr val="F0DCC0"/>
                      </a:solidFill>
                      <a:prstDash val="solid"/>
                    </a:lnR>
                    <a:lnT w="12700" cap="flat" cmpd="sng" algn="ctr">
                      <a:solidFill>
                        <a:srgbClr val="F0DCC0"/>
                      </a:solidFill>
                      <a:prstDash val="solid"/>
                    </a:lnT>
                    <a:lnB w="12700" cap="flat" cmpd="sng" algn="ctr">
                      <a:solidFill>
                        <a:srgbClr val="F0DC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baseline="0">
                          <a:solidFill>
                            <a:srgbClr val="5A4636"/>
                          </a:solidFill>
                          <a:latin typeface="Calibri"/>
                        </a:rPr>
                        <a:t>3,859</a:t>
                      </a: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F0DCC0"/>
                      </a:solidFill>
                      <a:prstDash val="solid"/>
                    </a:lnL>
                    <a:lnR w="12700" cap="flat" cmpd="sng" algn="ctr">
                      <a:solidFill>
                        <a:srgbClr val="F0DCC0"/>
                      </a:solidFill>
                      <a:prstDash val="solid"/>
                    </a:lnR>
                    <a:lnT w="12700" cap="flat" cmpd="sng" algn="ctr">
                      <a:solidFill>
                        <a:srgbClr val="F0DCC0"/>
                      </a:solidFill>
                      <a:prstDash val="solid"/>
                    </a:lnT>
                    <a:lnB w="12700" cap="flat" cmpd="sng" algn="ctr">
                      <a:solidFill>
                        <a:srgbClr val="F0DC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baseline="0" dirty="0">
                          <a:solidFill>
                            <a:srgbClr val="5A4636"/>
                          </a:solidFill>
                          <a:latin typeface="Calibri"/>
                        </a:rPr>
                        <a:t>24.64</a:t>
                      </a: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F0DCC0"/>
                      </a:solidFill>
                      <a:prstDash val="solid"/>
                    </a:lnL>
                    <a:lnR w="12700" cap="flat" cmpd="sng" algn="ctr">
                      <a:solidFill>
                        <a:srgbClr val="F0DCC0"/>
                      </a:solidFill>
                      <a:prstDash val="solid"/>
                    </a:lnR>
                    <a:lnT w="12700" cap="flat" cmpd="sng" algn="ctr">
                      <a:solidFill>
                        <a:srgbClr val="F0DCC0"/>
                      </a:solidFill>
                      <a:prstDash val="solid"/>
                    </a:lnT>
                    <a:lnB w="12700" cap="flat" cmpd="sng" algn="ctr">
                      <a:solidFill>
                        <a:srgbClr val="F0DC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baseline="0" dirty="0">
                          <a:solidFill>
                            <a:srgbClr val="5A4636"/>
                          </a:solidFill>
                          <a:latin typeface="Calibri"/>
                        </a:rPr>
                        <a:t>Transitional-care call + caregiver plan</a:t>
                      </a: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F0DCC0"/>
                      </a:solidFill>
                      <a:prstDash val="solid"/>
                    </a:lnL>
                    <a:lnR w="12700" cap="flat" cmpd="sng" algn="ctr">
                      <a:solidFill>
                        <a:srgbClr val="F0DCC0"/>
                      </a:solidFill>
                      <a:prstDash val="solid"/>
                    </a:lnR>
                    <a:lnT w="12700" cap="flat" cmpd="sng" algn="ctr">
                      <a:solidFill>
                        <a:srgbClr val="F0DCC0"/>
                      </a:solidFill>
                      <a:prstDash val="solid"/>
                    </a:lnT>
                    <a:lnB w="12700" cap="flat" cmpd="sng" algn="ctr">
                      <a:solidFill>
                        <a:srgbClr val="F0DC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baseline="0" dirty="0">
                          <a:solidFill>
                            <a:srgbClr val="5A4636"/>
                          </a:solidFill>
                          <a:latin typeface="Calibri"/>
                        </a:rPr>
                        <a:t>$2.8M</a:t>
                      </a: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F0DCC0"/>
                      </a:solidFill>
                      <a:prstDash val="solid"/>
                    </a:lnL>
                    <a:lnR w="12700" cap="flat" cmpd="sng" algn="ctr">
                      <a:solidFill>
                        <a:srgbClr val="F0DCC0"/>
                      </a:solidFill>
                      <a:prstDash val="solid"/>
                    </a:lnR>
                    <a:lnT w="12700" cap="flat" cmpd="sng" algn="ctr">
                      <a:solidFill>
                        <a:srgbClr val="F0DCC0"/>
                      </a:solidFill>
                      <a:prstDash val="solid"/>
                    </a:lnT>
                    <a:lnB w="12700" cap="flat" cmpd="sng" algn="ctr">
                      <a:solidFill>
                        <a:srgbClr val="F0DC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 baseline="0">
                          <a:solidFill>
                            <a:srgbClr val="7A3E10"/>
                          </a:solidFill>
                          <a:latin typeface="Calibri"/>
                        </a:rPr>
                        <a:t>Lives alone</a:t>
                      </a: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F0DCC0"/>
                      </a:solidFill>
                      <a:prstDash val="solid"/>
                    </a:lnL>
                    <a:lnR w="12700" cap="flat" cmpd="sng" algn="ctr">
                      <a:solidFill>
                        <a:srgbClr val="F0DCC0"/>
                      </a:solidFill>
                      <a:prstDash val="solid"/>
                    </a:lnR>
                    <a:lnT w="12700" cap="flat" cmpd="sng" algn="ctr">
                      <a:solidFill>
                        <a:srgbClr val="F0DCC0"/>
                      </a:solidFill>
                      <a:prstDash val="solid"/>
                    </a:lnT>
                    <a:lnB w="12700" cap="flat" cmpd="sng" algn="ctr">
                      <a:solidFill>
                        <a:srgbClr val="F0DCC0"/>
                      </a:solidFill>
                      <a:prstDash val="solid"/>
                    </a:lnB>
                    <a:solidFill>
                      <a:srgbClr val="FFF6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baseline="0">
                          <a:solidFill>
                            <a:srgbClr val="5A4636"/>
                          </a:solidFill>
                          <a:latin typeface="Calibri"/>
                        </a:rPr>
                        <a:t>3,287</a:t>
                      </a: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F0DCC0"/>
                      </a:solidFill>
                      <a:prstDash val="solid"/>
                    </a:lnL>
                    <a:lnR w="12700" cap="flat" cmpd="sng" algn="ctr">
                      <a:solidFill>
                        <a:srgbClr val="F0DCC0"/>
                      </a:solidFill>
                      <a:prstDash val="solid"/>
                    </a:lnR>
                    <a:lnT w="12700" cap="flat" cmpd="sng" algn="ctr">
                      <a:solidFill>
                        <a:srgbClr val="F0DCC0"/>
                      </a:solidFill>
                      <a:prstDash val="solid"/>
                    </a:lnT>
                    <a:lnB w="12700" cap="flat" cmpd="sng" algn="ctr">
                      <a:solidFill>
                        <a:srgbClr val="F0DCC0"/>
                      </a:solidFill>
                      <a:prstDash val="solid"/>
                    </a:lnB>
                    <a:solidFill>
                      <a:srgbClr val="FFF6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baseline="0">
                          <a:solidFill>
                            <a:srgbClr val="5A4636"/>
                          </a:solidFill>
                          <a:latin typeface="Calibri"/>
                        </a:rPr>
                        <a:t>23.40</a:t>
                      </a: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F0DCC0"/>
                      </a:solidFill>
                      <a:prstDash val="solid"/>
                    </a:lnL>
                    <a:lnR w="12700" cap="flat" cmpd="sng" algn="ctr">
                      <a:solidFill>
                        <a:srgbClr val="F0DCC0"/>
                      </a:solidFill>
                      <a:prstDash val="solid"/>
                    </a:lnR>
                    <a:lnT w="12700" cap="flat" cmpd="sng" algn="ctr">
                      <a:solidFill>
                        <a:srgbClr val="F0DCC0"/>
                      </a:solidFill>
                      <a:prstDash val="solid"/>
                    </a:lnT>
                    <a:lnB w="12700" cap="flat" cmpd="sng" algn="ctr">
                      <a:solidFill>
                        <a:srgbClr val="F0DCC0"/>
                      </a:solidFill>
                      <a:prstDash val="solid"/>
                    </a:lnB>
                    <a:solidFill>
                      <a:srgbClr val="FFF6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baseline="0" dirty="0">
                          <a:solidFill>
                            <a:srgbClr val="5A4636"/>
                          </a:solidFill>
                          <a:latin typeface="Calibri"/>
                        </a:rPr>
                        <a:t>Home-health / community support</a:t>
                      </a: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F0DCC0"/>
                      </a:solidFill>
                      <a:prstDash val="solid"/>
                    </a:lnL>
                    <a:lnR w="12700" cap="flat" cmpd="sng" algn="ctr">
                      <a:solidFill>
                        <a:srgbClr val="F0DCC0"/>
                      </a:solidFill>
                      <a:prstDash val="solid"/>
                    </a:lnR>
                    <a:lnT w="12700" cap="flat" cmpd="sng" algn="ctr">
                      <a:solidFill>
                        <a:srgbClr val="F0DCC0"/>
                      </a:solidFill>
                      <a:prstDash val="solid"/>
                    </a:lnT>
                    <a:lnB w="12700" cap="flat" cmpd="sng" algn="ctr">
                      <a:solidFill>
                        <a:srgbClr val="F0DCC0"/>
                      </a:solidFill>
                      <a:prstDash val="solid"/>
                    </a:lnB>
                    <a:solidFill>
                      <a:srgbClr val="FFF6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baseline="0" dirty="0">
                          <a:solidFill>
                            <a:srgbClr val="5A4636"/>
                          </a:solidFill>
                          <a:latin typeface="Calibri"/>
                        </a:rPr>
                        <a:t>$2.0M</a:t>
                      </a: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F0DCC0"/>
                      </a:solidFill>
                      <a:prstDash val="solid"/>
                    </a:lnL>
                    <a:lnR w="12700" cap="flat" cmpd="sng" algn="ctr">
                      <a:solidFill>
                        <a:srgbClr val="F0DCC0"/>
                      </a:solidFill>
                      <a:prstDash val="solid"/>
                    </a:lnR>
                    <a:lnT w="12700" cap="flat" cmpd="sng" algn="ctr">
                      <a:solidFill>
                        <a:srgbClr val="F0DCC0"/>
                      </a:solidFill>
                      <a:prstDash val="solid"/>
                    </a:lnT>
                    <a:lnB w="12700" cap="flat" cmpd="sng" algn="ctr">
                      <a:solidFill>
                        <a:srgbClr val="F0DCC0"/>
                      </a:solidFill>
                      <a:prstDash val="solid"/>
                    </a:lnB>
                    <a:solidFill>
                      <a:srgbClr val="FFF6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 baseline="0">
                          <a:solidFill>
                            <a:srgbClr val="7A3E10"/>
                          </a:solidFill>
                          <a:latin typeface="Calibri"/>
                        </a:rPr>
                        <a:t>No 7-day follow-up</a:t>
                      </a: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F0DCC0"/>
                      </a:solidFill>
                      <a:prstDash val="solid"/>
                    </a:lnL>
                    <a:lnR w="12700" cap="flat" cmpd="sng" algn="ctr">
                      <a:solidFill>
                        <a:srgbClr val="F0DCC0"/>
                      </a:solidFill>
                      <a:prstDash val="solid"/>
                    </a:lnR>
                    <a:lnT w="12700" cap="flat" cmpd="sng" algn="ctr">
                      <a:solidFill>
                        <a:srgbClr val="F0DCC0"/>
                      </a:solidFill>
                      <a:prstDash val="solid"/>
                    </a:lnT>
                    <a:lnB w="12700" cap="flat" cmpd="sng" algn="ctr">
                      <a:solidFill>
                        <a:srgbClr val="F0DC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baseline="0">
                          <a:solidFill>
                            <a:srgbClr val="5A4636"/>
                          </a:solidFill>
                          <a:latin typeface="Calibri"/>
                        </a:rPr>
                        <a:t>4,570</a:t>
                      </a: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F0DCC0"/>
                      </a:solidFill>
                      <a:prstDash val="solid"/>
                    </a:lnL>
                    <a:lnR w="12700" cap="flat" cmpd="sng" algn="ctr">
                      <a:solidFill>
                        <a:srgbClr val="F0DCC0"/>
                      </a:solidFill>
                      <a:prstDash val="solid"/>
                    </a:lnR>
                    <a:lnT w="12700" cap="flat" cmpd="sng" algn="ctr">
                      <a:solidFill>
                        <a:srgbClr val="F0DCC0"/>
                      </a:solidFill>
                      <a:prstDash val="solid"/>
                    </a:lnT>
                    <a:lnB w="12700" cap="flat" cmpd="sng" algn="ctr">
                      <a:solidFill>
                        <a:srgbClr val="F0DC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baseline="0">
                          <a:solidFill>
                            <a:srgbClr val="5A4636"/>
                          </a:solidFill>
                          <a:latin typeface="Calibri"/>
                        </a:rPr>
                        <a:t>20.00</a:t>
                      </a: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F0DCC0"/>
                      </a:solidFill>
                      <a:prstDash val="solid"/>
                    </a:lnL>
                    <a:lnR w="12700" cap="flat" cmpd="sng" algn="ctr">
                      <a:solidFill>
                        <a:srgbClr val="F0DCC0"/>
                      </a:solidFill>
                      <a:prstDash val="solid"/>
                    </a:lnR>
                    <a:lnT w="12700" cap="flat" cmpd="sng" algn="ctr">
                      <a:solidFill>
                        <a:srgbClr val="F0DCC0"/>
                      </a:solidFill>
                      <a:prstDash val="solid"/>
                    </a:lnT>
                    <a:lnB w="12700" cap="flat" cmpd="sng" algn="ctr">
                      <a:solidFill>
                        <a:srgbClr val="F0DC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baseline="0" dirty="0">
                          <a:solidFill>
                            <a:srgbClr val="5A4636"/>
                          </a:solidFill>
                          <a:latin typeface="Calibri"/>
                        </a:rPr>
                        <a:t>Book follow-up before discharge</a:t>
                      </a: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F0DCC0"/>
                      </a:solidFill>
                      <a:prstDash val="solid"/>
                    </a:lnL>
                    <a:lnR w="12700" cap="flat" cmpd="sng" algn="ctr">
                      <a:solidFill>
                        <a:srgbClr val="F0DCC0"/>
                      </a:solidFill>
                      <a:prstDash val="solid"/>
                    </a:lnR>
                    <a:lnT w="12700" cap="flat" cmpd="sng" algn="ctr">
                      <a:solidFill>
                        <a:srgbClr val="F0DCC0"/>
                      </a:solidFill>
                      <a:prstDash val="solid"/>
                    </a:lnT>
                    <a:lnB w="12700" cap="flat" cmpd="sng" algn="ctr">
                      <a:solidFill>
                        <a:srgbClr val="F0DC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baseline="0" dirty="0">
                          <a:solidFill>
                            <a:srgbClr val="5A4636"/>
                          </a:solidFill>
                          <a:latin typeface="Calibri"/>
                        </a:rPr>
                        <a:t>$1.5M</a:t>
                      </a: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F0DCC0"/>
                      </a:solidFill>
                      <a:prstDash val="solid"/>
                    </a:lnL>
                    <a:lnR w="12700" cap="flat" cmpd="sng" algn="ctr">
                      <a:solidFill>
                        <a:srgbClr val="F0DCC0"/>
                      </a:solidFill>
                      <a:prstDash val="solid"/>
                    </a:lnR>
                    <a:lnT w="12700" cap="flat" cmpd="sng" algn="ctr">
                      <a:solidFill>
                        <a:srgbClr val="F0DCC0"/>
                      </a:solidFill>
                      <a:prstDash val="solid"/>
                    </a:lnT>
                    <a:lnB w="12700" cap="flat" cmpd="sng" algn="ctr">
                      <a:solidFill>
                        <a:srgbClr val="F0DC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 baseline="0">
                          <a:solidFill>
                            <a:srgbClr val="7A3E10"/>
                          </a:solidFill>
                          <a:latin typeface="Calibri"/>
                        </a:rPr>
                        <a:t>Medicare Advantage</a:t>
                      </a: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F0DCC0"/>
                      </a:solidFill>
                      <a:prstDash val="solid"/>
                    </a:lnL>
                    <a:lnR w="12700" cap="flat" cmpd="sng" algn="ctr">
                      <a:solidFill>
                        <a:srgbClr val="F0DCC0"/>
                      </a:solidFill>
                      <a:prstDash val="solid"/>
                    </a:lnR>
                    <a:lnT w="12700" cap="flat" cmpd="sng" algn="ctr">
                      <a:solidFill>
                        <a:srgbClr val="F0DCC0"/>
                      </a:solidFill>
                      <a:prstDash val="solid"/>
                    </a:lnT>
                    <a:lnB w="12700" cap="flat" cmpd="sng" algn="ctr">
                      <a:solidFill>
                        <a:srgbClr val="F0DCC0"/>
                      </a:solidFill>
                      <a:prstDash val="solid"/>
                    </a:lnB>
                    <a:solidFill>
                      <a:srgbClr val="FFF6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baseline="0">
                          <a:solidFill>
                            <a:srgbClr val="5A4636"/>
                          </a:solidFill>
                          <a:latin typeface="Calibri"/>
                        </a:rPr>
                        <a:t>5,659</a:t>
                      </a: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F0DCC0"/>
                      </a:solidFill>
                      <a:prstDash val="solid"/>
                    </a:lnL>
                    <a:lnR w="12700" cap="flat" cmpd="sng" algn="ctr">
                      <a:solidFill>
                        <a:srgbClr val="F0DCC0"/>
                      </a:solidFill>
                      <a:prstDash val="solid"/>
                    </a:lnR>
                    <a:lnT w="12700" cap="flat" cmpd="sng" algn="ctr">
                      <a:solidFill>
                        <a:srgbClr val="F0DCC0"/>
                      </a:solidFill>
                      <a:prstDash val="solid"/>
                    </a:lnT>
                    <a:lnB w="12700" cap="flat" cmpd="sng" algn="ctr">
                      <a:solidFill>
                        <a:srgbClr val="F0DCC0"/>
                      </a:solidFill>
                      <a:prstDash val="solid"/>
                    </a:lnB>
                    <a:solidFill>
                      <a:srgbClr val="FFF6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baseline="0">
                          <a:solidFill>
                            <a:srgbClr val="5A4636"/>
                          </a:solidFill>
                          <a:latin typeface="Calibri"/>
                        </a:rPr>
                        <a:t>19.08</a:t>
                      </a: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F0DCC0"/>
                      </a:solidFill>
                      <a:prstDash val="solid"/>
                    </a:lnL>
                    <a:lnR w="12700" cap="flat" cmpd="sng" algn="ctr">
                      <a:solidFill>
                        <a:srgbClr val="F0DCC0"/>
                      </a:solidFill>
                      <a:prstDash val="solid"/>
                    </a:lnR>
                    <a:lnT w="12700" cap="flat" cmpd="sng" algn="ctr">
                      <a:solidFill>
                        <a:srgbClr val="F0DCC0"/>
                      </a:solidFill>
                      <a:prstDash val="solid"/>
                    </a:lnT>
                    <a:lnB w="12700" cap="flat" cmpd="sng" algn="ctr">
                      <a:solidFill>
                        <a:srgbClr val="F0DCC0"/>
                      </a:solidFill>
                      <a:prstDash val="solid"/>
                    </a:lnB>
                    <a:solidFill>
                      <a:srgbClr val="FFF6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baseline="0">
                          <a:solidFill>
                            <a:srgbClr val="5A4636"/>
                          </a:solidFill>
                          <a:latin typeface="Calibri"/>
                        </a:rPr>
                        <a:t>Payer-partnered outreach</a:t>
                      </a: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F0DCC0"/>
                      </a:solidFill>
                      <a:prstDash val="solid"/>
                    </a:lnL>
                    <a:lnR w="12700" cap="flat" cmpd="sng" algn="ctr">
                      <a:solidFill>
                        <a:srgbClr val="F0DCC0"/>
                      </a:solidFill>
                      <a:prstDash val="solid"/>
                    </a:lnR>
                    <a:lnT w="12700" cap="flat" cmpd="sng" algn="ctr">
                      <a:solidFill>
                        <a:srgbClr val="F0DCC0"/>
                      </a:solidFill>
                      <a:prstDash val="solid"/>
                    </a:lnT>
                    <a:lnB w="12700" cap="flat" cmpd="sng" algn="ctr">
                      <a:solidFill>
                        <a:srgbClr val="F0DCC0"/>
                      </a:solidFill>
                      <a:prstDash val="solid"/>
                    </a:lnB>
                    <a:solidFill>
                      <a:srgbClr val="FFF6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baseline="0" dirty="0">
                          <a:solidFill>
                            <a:srgbClr val="5A4636"/>
                          </a:solidFill>
                          <a:latin typeface="Calibri"/>
                        </a:rPr>
                        <a:t>$1.4M</a:t>
                      </a: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F0DCC0"/>
                      </a:solidFill>
                      <a:prstDash val="solid"/>
                    </a:lnL>
                    <a:lnR w="12700" cap="flat" cmpd="sng" algn="ctr">
                      <a:solidFill>
                        <a:srgbClr val="F0DCC0"/>
                      </a:solidFill>
                      <a:prstDash val="solid"/>
                    </a:lnR>
                    <a:lnT w="12700" cap="flat" cmpd="sng" algn="ctr">
                      <a:solidFill>
                        <a:srgbClr val="F0DCC0"/>
                      </a:solidFill>
                      <a:prstDash val="solid"/>
                    </a:lnT>
                    <a:lnB w="12700" cap="flat" cmpd="sng" algn="ctr">
                      <a:solidFill>
                        <a:srgbClr val="F0DCC0"/>
                      </a:solidFill>
                      <a:prstDash val="solid"/>
                    </a:lnB>
                    <a:solidFill>
                      <a:srgbClr val="FFF6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 baseline="0">
                          <a:solidFill>
                            <a:srgbClr val="7A3E10"/>
                          </a:solidFill>
                          <a:latin typeface="Calibri"/>
                        </a:rPr>
                        <a:t>Long stay (8d+)</a:t>
                      </a: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F0DCC0"/>
                      </a:solidFill>
                      <a:prstDash val="solid"/>
                    </a:lnL>
                    <a:lnR w="12700" cap="flat" cmpd="sng" algn="ctr">
                      <a:solidFill>
                        <a:srgbClr val="F0DCC0"/>
                      </a:solidFill>
                      <a:prstDash val="solid"/>
                    </a:lnR>
                    <a:lnT w="12700" cap="flat" cmpd="sng" algn="ctr">
                      <a:solidFill>
                        <a:srgbClr val="F0DCC0"/>
                      </a:solidFill>
                      <a:prstDash val="solid"/>
                    </a:lnT>
                    <a:lnB w="12700" cap="flat" cmpd="sng" algn="ctr">
                      <a:solidFill>
                        <a:srgbClr val="F0DC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baseline="0">
                          <a:solidFill>
                            <a:srgbClr val="5A4636"/>
                          </a:solidFill>
                          <a:latin typeface="Calibri"/>
                        </a:rPr>
                        <a:t>1,755</a:t>
                      </a: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F0DCC0"/>
                      </a:solidFill>
                      <a:prstDash val="solid"/>
                    </a:lnL>
                    <a:lnR w="12700" cap="flat" cmpd="sng" algn="ctr">
                      <a:solidFill>
                        <a:srgbClr val="F0DCC0"/>
                      </a:solidFill>
                      <a:prstDash val="solid"/>
                    </a:lnR>
                    <a:lnT w="12700" cap="flat" cmpd="sng" algn="ctr">
                      <a:solidFill>
                        <a:srgbClr val="F0DCC0"/>
                      </a:solidFill>
                      <a:prstDash val="solid"/>
                    </a:lnT>
                    <a:lnB w="12700" cap="flat" cmpd="sng" algn="ctr">
                      <a:solidFill>
                        <a:srgbClr val="F0DC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baseline="0">
                          <a:solidFill>
                            <a:srgbClr val="5A4636"/>
                          </a:solidFill>
                          <a:latin typeface="Calibri"/>
                        </a:rPr>
                        <a:t>24.39</a:t>
                      </a: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F0DCC0"/>
                      </a:solidFill>
                      <a:prstDash val="solid"/>
                    </a:lnL>
                    <a:lnR w="12700" cap="flat" cmpd="sng" algn="ctr">
                      <a:solidFill>
                        <a:srgbClr val="F0DCC0"/>
                      </a:solidFill>
                      <a:prstDash val="solid"/>
                    </a:lnR>
                    <a:lnT w="12700" cap="flat" cmpd="sng" algn="ctr">
                      <a:solidFill>
                        <a:srgbClr val="F0DCC0"/>
                      </a:solidFill>
                      <a:prstDash val="solid"/>
                    </a:lnT>
                    <a:lnB w="12700" cap="flat" cmpd="sng" algn="ctr">
                      <a:solidFill>
                        <a:srgbClr val="F0DC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baseline="0">
                          <a:solidFill>
                            <a:srgbClr val="5A4636"/>
                          </a:solidFill>
                          <a:latin typeface="Calibri"/>
                        </a:rPr>
                        <a:t>Discharge-readiness review</a:t>
                      </a: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F0DCC0"/>
                      </a:solidFill>
                      <a:prstDash val="solid"/>
                    </a:lnL>
                    <a:lnR w="12700" cap="flat" cmpd="sng" algn="ctr">
                      <a:solidFill>
                        <a:srgbClr val="F0DCC0"/>
                      </a:solidFill>
                      <a:prstDash val="solid"/>
                    </a:lnR>
                    <a:lnT w="12700" cap="flat" cmpd="sng" algn="ctr">
                      <a:solidFill>
                        <a:srgbClr val="F0DCC0"/>
                      </a:solidFill>
                      <a:prstDash val="solid"/>
                    </a:lnT>
                    <a:lnB w="12700" cap="flat" cmpd="sng" algn="ctr">
                      <a:solidFill>
                        <a:srgbClr val="F0DC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baseline="0" dirty="0">
                          <a:solidFill>
                            <a:srgbClr val="5A4636"/>
                          </a:solidFill>
                          <a:latin typeface="Calibri"/>
                        </a:rPr>
                        <a:t>$1.2M</a:t>
                      </a: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F0DCC0"/>
                      </a:solidFill>
                      <a:prstDash val="solid"/>
                    </a:lnL>
                    <a:lnR w="12700" cap="flat" cmpd="sng" algn="ctr">
                      <a:solidFill>
                        <a:srgbClr val="F0DCC0"/>
                      </a:solidFill>
                      <a:prstDash val="solid"/>
                    </a:lnR>
                    <a:lnT w="12700" cap="flat" cmpd="sng" algn="ctr">
                      <a:solidFill>
                        <a:srgbClr val="F0DCC0"/>
                      </a:solidFill>
                      <a:prstDash val="solid"/>
                    </a:lnT>
                    <a:lnB w="12700" cap="flat" cmpd="sng" algn="ctr">
                      <a:solidFill>
                        <a:srgbClr val="F0DC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 baseline="0">
                          <a:solidFill>
                            <a:srgbClr val="7A3E10"/>
                          </a:solidFill>
                          <a:latin typeface="Calibri"/>
                        </a:rPr>
                        <a:t>HbA1c 9+</a:t>
                      </a: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F0DCC0"/>
                      </a:solidFill>
                      <a:prstDash val="solid"/>
                    </a:lnL>
                    <a:lnR w="12700" cap="flat" cmpd="sng" algn="ctr">
                      <a:solidFill>
                        <a:srgbClr val="F0DCC0"/>
                      </a:solidFill>
                      <a:prstDash val="solid"/>
                    </a:lnR>
                    <a:lnT w="12700" cap="flat" cmpd="sng" algn="ctr">
                      <a:solidFill>
                        <a:srgbClr val="F0DCC0"/>
                      </a:solidFill>
                      <a:prstDash val="solid"/>
                    </a:lnT>
                    <a:lnB w="12700" cap="flat" cmpd="sng" algn="ctr">
                      <a:solidFill>
                        <a:srgbClr val="F0DCC0"/>
                      </a:solidFill>
                      <a:prstDash val="solid"/>
                    </a:lnB>
                    <a:solidFill>
                      <a:srgbClr val="FFF6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baseline="0">
                          <a:solidFill>
                            <a:srgbClr val="5A4636"/>
                          </a:solidFill>
                          <a:latin typeface="Calibri"/>
                        </a:rPr>
                        <a:t>1,378</a:t>
                      </a: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F0DCC0"/>
                      </a:solidFill>
                      <a:prstDash val="solid"/>
                    </a:lnL>
                    <a:lnR w="12700" cap="flat" cmpd="sng" algn="ctr">
                      <a:solidFill>
                        <a:srgbClr val="F0DCC0"/>
                      </a:solidFill>
                      <a:prstDash val="solid"/>
                    </a:lnR>
                    <a:lnT w="12700" cap="flat" cmpd="sng" algn="ctr">
                      <a:solidFill>
                        <a:srgbClr val="F0DCC0"/>
                      </a:solidFill>
                      <a:prstDash val="solid"/>
                    </a:lnT>
                    <a:lnB w="12700" cap="flat" cmpd="sng" algn="ctr">
                      <a:solidFill>
                        <a:srgbClr val="F0DCC0"/>
                      </a:solidFill>
                      <a:prstDash val="solid"/>
                    </a:lnB>
                    <a:solidFill>
                      <a:srgbClr val="FFF6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baseline="0">
                          <a:solidFill>
                            <a:srgbClr val="5A4636"/>
                          </a:solidFill>
                          <a:latin typeface="Calibri"/>
                        </a:rPr>
                        <a:t>22.64</a:t>
                      </a: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F0DCC0"/>
                      </a:solidFill>
                      <a:prstDash val="solid"/>
                    </a:lnL>
                    <a:lnR w="12700" cap="flat" cmpd="sng" algn="ctr">
                      <a:solidFill>
                        <a:srgbClr val="F0DCC0"/>
                      </a:solidFill>
                      <a:prstDash val="solid"/>
                    </a:lnR>
                    <a:lnT w="12700" cap="flat" cmpd="sng" algn="ctr">
                      <a:solidFill>
                        <a:srgbClr val="F0DCC0"/>
                      </a:solidFill>
                      <a:prstDash val="solid"/>
                    </a:lnT>
                    <a:lnB w="12700" cap="flat" cmpd="sng" algn="ctr">
                      <a:solidFill>
                        <a:srgbClr val="F0DCC0"/>
                      </a:solidFill>
                      <a:prstDash val="solid"/>
                    </a:lnB>
                    <a:solidFill>
                      <a:srgbClr val="FFF6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baseline="0">
                          <a:solidFill>
                            <a:srgbClr val="5A4636"/>
                          </a:solidFill>
                          <a:latin typeface="Calibri"/>
                        </a:rPr>
                        <a:t>Diabetes nurse programme</a:t>
                      </a: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F0DCC0"/>
                      </a:solidFill>
                      <a:prstDash val="solid"/>
                    </a:lnL>
                    <a:lnR w="12700" cap="flat" cmpd="sng" algn="ctr">
                      <a:solidFill>
                        <a:srgbClr val="F0DCC0"/>
                      </a:solidFill>
                      <a:prstDash val="solid"/>
                    </a:lnR>
                    <a:lnT w="12700" cap="flat" cmpd="sng" algn="ctr">
                      <a:solidFill>
                        <a:srgbClr val="F0DCC0"/>
                      </a:solidFill>
                      <a:prstDash val="solid"/>
                    </a:lnT>
                    <a:lnB w="12700" cap="flat" cmpd="sng" algn="ctr">
                      <a:solidFill>
                        <a:srgbClr val="F0DCC0"/>
                      </a:solidFill>
                      <a:prstDash val="solid"/>
                    </a:lnB>
                    <a:solidFill>
                      <a:srgbClr val="FFF6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baseline="0" dirty="0">
                          <a:solidFill>
                            <a:srgbClr val="5A4636"/>
                          </a:solidFill>
                          <a:latin typeface="Calibri"/>
                        </a:rPr>
                        <a:t>$0.8M</a:t>
                      </a: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F0DCC0"/>
                      </a:solidFill>
                      <a:prstDash val="solid"/>
                    </a:lnL>
                    <a:lnR w="12700" cap="flat" cmpd="sng" algn="ctr">
                      <a:solidFill>
                        <a:srgbClr val="F0DCC0"/>
                      </a:solidFill>
                      <a:prstDash val="solid"/>
                    </a:lnR>
                    <a:lnT w="12700" cap="flat" cmpd="sng" algn="ctr">
                      <a:solidFill>
                        <a:srgbClr val="F0DCC0"/>
                      </a:solidFill>
                      <a:prstDash val="solid"/>
                    </a:lnT>
                    <a:lnB w="12700" cap="flat" cmpd="sng" algn="ctr">
                      <a:solidFill>
                        <a:srgbClr val="F0DCC0"/>
                      </a:solidFill>
                      <a:prstDash val="solid"/>
                    </a:lnB>
                    <a:solidFill>
                      <a:srgbClr val="FFF6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 baseline="0">
                          <a:solidFill>
                            <a:srgbClr val="7A3E10"/>
                          </a:solidFill>
                          <a:latin typeface="Calibri"/>
                        </a:rPr>
                        <a:t>Skilled nursing discharge</a:t>
                      </a: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F0DCC0"/>
                      </a:solidFill>
                      <a:prstDash val="solid"/>
                    </a:lnL>
                    <a:lnR w="12700" cap="flat" cmpd="sng" algn="ctr">
                      <a:solidFill>
                        <a:srgbClr val="F0DCC0"/>
                      </a:solidFill>
                      <a:prstDash val="solid"/>
                    </a:lnR>
                    <a:lnT w="12700" cap="flat" cmpd="sng" algn="ctr">
                      <a:solidFill>
                        <a:srgbClr val="F0DCC0"/>
                      </a:solidFill>
                      <a:prstDash val="solid"/>
                    </a:lnT>
                    <a:lnB w="12700" cap="flat" cmpd="sng" algn="ctr">
                      <a:solidFill>
                        <a:srgbClr val="F0DC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baseline="0">
                          <a:solidFill>
                            <a:srgbClr val="5A4636"/>
                          </a:solidFill>
                          <a:latin typeface="Calibri"/>
                        </a:rPr>
                        <a:t>1,325</a:t>
                      </a: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F0DCC0"/>
                      </a:solidFill>
                      <a:prstDash val="solid"/>
                    </a:lnL>
                    <a:lnR w="12700" cap="flat" cmpd="sng" algn="ctr">
                      <a:solidFill>
                        <a:srgbClr val="F0DCC0"/>
                      </a:solidFill>
                      <a:prstDash val="solid"/>
                    </a:lnR>
                    <a:lnT w="12700" cap="flat" cmpd="sng" algn="ctr">
                      <a:solidFill>
                        <a:srgbClr val="F0DCC0"/>
                      </a:solidFill>
                      <a:prstDash val="solid"/>
                    </a:lnT>
                    <a:lnB w="12700" cap="flat" cmpd="sng" algn="ctr">
                      <a:solidFill>
                        <a:srgbClr val="F0DC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baseline="0">
                          <a:solidFill>
                            <a:srgbClr val="5A4636"/>
                          </a:solidFill>
                          <a:latin typeface="Calibri"/>
                        </a:rPr>
                        <a:t>21.51</a:t>
                      </a: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F0DCC0"/>
                      </a:solidFill>
                      <a:prstDash val="solid"/>
                    </a:lnL>
                    <a:lnR w="12700" cap="flat" cmpd="sng" algn="ctr">
                      <a:solidFill>
                        <a:srgbClr val="F0DCC0"/>
                      </a:solidFill>
                      <a:prstDash val="solid"/>
                    </a:lnR>
                    <a:lnT w="12700" cap="flat" cmpd="sng" algn="ctr">
                      <a:solidFill>
                        <a:srgbClr val="F0DCC0"/>
                      </a:solidFill>
                      <a:prstDash val="solid"/>
                    </a:lnT>
                    <a:lnB w="12700" cap="flat" cmpd="sng" algn="ctr">
                      <a:solidFill>
                        <a:srgbClr val="F0DC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baseline="0">
                          <a:solidFill>
                            <a:srgbClr val="5A4636"/>
                          </a:solidFill>
                          <a:latin typeface="Calibri"/>
                        </a:rPr>
                        <a:t>SNF-to-home hand-off</a:t>
                      </a: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F0DCC0"/>
                      </a:solidFill>
                      <a:prstDash val="solid"/>
                    </a:lnL>
                    <a:lnR w="12700" cap="flat" cmpd="sng" algn="ctr">
                      <a:solidFill>
                        <a:srgbClr val="F0DCC0"/>
                      </a:solidFill>
                      <a:prstDash val="solid"/>
                    </a:lnR>
                    <a:lnT w="12700" cap="flat" cmpd="sng" algn="ctr">
                      <a:solidFill>
                        <a:srgbClr val="F0DCC0"/>
                      </a:solidFill>
                      <a:prstDash val="solid"/>
                    </a:lnT>
                    <a:lnB w="12700" cap="flat" cmpd="sng" algn="ctr">
                      <a:solidFill>
                        <a:srgbClr val="F0DC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baseline="0" dirty="0">
                          <a:solidFill>
                            <a:srgbClr val="5A4636"/>
                          </a:solidFill>
                          <a:latin typeface="Calibri"/>
                        </a:rPr>
                        <a:t>$0.6M</a:t>
                      </a: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rgbClr val="F0DCC0"/>
                      </a:solidFill>
                      <a:prstDash val="solid"/>
                    </a:lnL>
                    <a:lnR w="12700" cap="flat" cmpd="sng" algn="ctr">
                      <a:solidFill>
                        <a:srgbClr val="F0DCC0"/>
                      </a:solidFill>
                      <a:prstDash val="solid"/>
                    </a:lnR>
                    <a:lnT w="12700" cap="flat" cmpd="sng" algn="ctr">
                      <a:solidFill>
                        <a:srgbClr val="F0DCC0"/>
                      </a:solidFill>
                      <a:prstDash val="solid"/>
                    </a:lnT>
                    <a:lnB w="12700" cap="flat" cmpd="sng" algn="ctr">
                      <a:solidFill>
                        <a:srgbClr val="F0DCC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760720" y="5303520"/>
            <a:ext cx="5788152" cy="600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 dirty="0">
                <a:solidFill>
                  <a:srgbClr val="A38A6D"/>
                </a:solidFill>
                <a:latin typeface="Calibri"/>
              </a:rPr>
              <a:t>Excess = patients x (group rate - 16.19%). Saving = half the excess x $16,900 average return-stay cost. Illustrative: associations, not proven effects; groups overlap, so rows are not additive.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943600"/>
            <a:ext cx="10908792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dirty="0">
                <a:solidFill>
                  <a:srgbClr val="7A3E10"/>
                </a:solidFill>
                <a:latin typeface="Calibri"/>
              </a:rPr>
              <a:t>Key insight - </a:t>
            </a:r>
            <a:r>
              <a:rPr sz="1500" b="0" i="0" dirty="0">
                <a:solidFill>
                  <a:srgbClr val="5A4636"/>
                </a:solidFill>
                <a:latin typeface="Calibri"/>
              </a:rPr>
              <a:t>Start with patients aged 80+, those living alone and those discharged without a 7-day follow-up: closing half their excess avoids ~369 readmissions (~$6.2M) before overlap.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0819fa7-4367-4500-ba88-dd630d977609}" enabled="1" method="Standard" siteId="{63ce7d59-2f3e-42cd-a8cc-be764cff5eb6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</TotalTime>
  <Words>516</Words>
  <Application>Microsoft Office PowerPoint</Application>
  <PresentationFormat>Widescreen</PresentationFormat>
  <Paragraphs>88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Rohit B Yadav</cp:lastModifiedBy>
  <cp:revision>3</cp:revision>
  <dcterms:created xsi:type="dcterms:W3CDTF">2026-09-30T17:45:00Z</dcterms:created>
  <dcterms:modified xsi:type="dcterms:W3CDTF">2026-10-27T17:22:42Z</dcterms:modified>
</cp:coreProperties>
</file>