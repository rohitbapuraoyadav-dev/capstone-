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09600"/>
            <a:ext cx="10566400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110" dirty="0">
                <a:solidFill>
                  <a:srgbClr val="1C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11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348978"/>
            <a:ext cx="10566400" cy="4696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09600"/>
            <a:ext cx="10566400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110" dirty="0">
                <a:solidFill>
                  <a:srgbClr val="1C2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11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348978"/>
            <a:ext cx="10566400" cy="4696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47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22"/>
              </a:lnSpc>
              <a:buNone/>
            </a:pPr>
            <a:r>
              <a:rPr lang="en-US" sz="3020" b="1" i="0" dirty="0">
                <a:solidFill>
                  <a:srgbClr val="1C23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Readmission risk drivers</a:t>
            </a:r>
            <a:endParaRPr lang="en-US" sz="3020" dirty="0"/>
          </a:p>
        </p:txBody>
      </p:sp>
      <p:sp>
        <p:nvSpPr>
          <p:cNvPr id="3" name="Shape 1"/>
          <p:cNvSpPr/>
          <p:nvPr/>
        </p:nvSpPr>
        <p:spPr>
          <a:xfrm>
            <a:off x="815975" y="1187318"/>
            <a:ext cx="3414183" cy="865121"/>
          </a:xfrm>
          <a:prstGeom prst="roundRect">
            <a:avLst>
              <a:gd name="adj" fmla="val 11377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4833" y="1289976"/>
            <a:ext cx="3148161" cy="487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63"/>
              </a:lnSpc>
              <a:buNone/>
            </a:pPr>
            <a:r>
              <a:rPr lang="en-US" sz="2616" b="1" dirty="0">
                <a:solidFill>
                  <a:srgbClr val="D4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16.19%</a:t>
            </a:r>
            <a:endParaRPr lang="en-US" sz="2616" dirty="0"/>
          </a:p>
        </p:txBody>
      </p:sp>
      <p:sp>
        <p:nvSpPr>
          <p:cNvPr id="5" name="Text 3"/>
          <p:cNvSpPr/>
          <p:nvPr/>
        </p:nvSpPr>
        <p:spPr>
          <a:xfrm>
            <a:off x="994833" y="1751873"/>
            <a:ext cx="3148161" cy="223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30-day readmission rate</a:t>
            </a:r>
            <a:endParaRPr lang="en-US" sz="1121" dirty="0"/>
          </a:p>
        </p:txBody>
      </p:sp>
      <p:sp>
        <p:nvSpPr>
          <p:cNvPr id="6" name="Shape 4"/>
          <p:cNvSpPr/>
          <p:nvPr/>
        </p:nvSpPr>
        <p:spPr>
          <a:xfrm>
            <a:off x="4388908" y="1187318"/>
            <a:ext cx="3414183" cy="865121"/>
          </a:xfrm>
          <a:prstGeom prst="roundRect">
            <a:avLst>
              <a:gd name="adj" fmla="val 11377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7767" y="1289976"/>
            <a:ext cx="3148161" cy="487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63"/>
              </a:lnSpc>
              <a:buNone/>
            </a:pPr>
            <a:r>
              <a:rPr lang="en-US" sz="2616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13,072</a:t>
            </a:r>
            <a:endParaRPr lang="en-US" sz="2616" dirty="0"/>
          </a:p>
        </p:txBody>
      </p:sp>
      <p:sp>
        <p:nvSpPr>
          <p:cNvPr id="8" name="Text 6"/>
          <p:cNvSpPr/>
          <p:nvPr/>
        </p:nvSpPr>
        <p:spPr>
          <a:xfrm>
            <a:off x="4567767" y="1751873"/>
            <a:ext cx="3148161" cy="223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 in reporting window</a:t>
            </a:r>
            <a:endParaRPr lang="en-US" sz="1121" dirty="0"/>
          </a:p>
        </p:txBody>
      </p:sp>
      <p:sp>
        <p:nvSpPr>
          <p:cNvPr id="9" name="Shape 7"/>
          <p:cNvSpPr/>
          <p:nvPr/>
        </p:nvSpPr>
        <p:spPr>
          <a:xfrm>
            <a:off x="7961842" y="1187318"/>
            <a:ext cx="3414183" cy="865121"/>
          </a:xfrm>
          <a:prstGeom prst="roundRect">
            <a:avLst>
              <a:gd name="adj" fmla="val 11377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0700" y="1289976"/>
            <a:ext cx="3148161" cy="487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63"/>
              </a:lnSpc>
              <a:buNone/>
            </a:pPr>
            <a:r>
              <a:rPr lang="en-US" sz="2616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2,116</a:t>
            </a:r>
            <a:endParaRPr lang="en-US" sz="2616" dirty="0"/>
          </a:p>
        </p:txBody>
      </p:sp>
      <p:sp>
        <p:nvSpPr>
          <p:cNvPr id="11" name="Text 9"/>
          <p:cNvSpPr/>
          <p:nvPr/>
        </p:nvSpPr>
        <p:spPr>
          <a:xfrm>
            <a:off x="8140700" y="1751873"/>
            <a:ext cx="3148161" cy="223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readmitted within 30 days</a:t>
            </a:r>
            <a:endParaRPr lang="en-US" sz="1121" dirty="0"/>
          </a:p>
        </p:txBody>
      </p:sp>
      <p:sp>
        <p:nvSpPr>
          <p:cNvPr id="12" name="Text 10"/>
          <p:cNvSpPr/>
          <p:nvPr/>
        </p:nvSpPr>
        <p:spPr>
          <a:xfrm>
            <a:off x="812800" y="2208014"/>
            <a:ext cx="65405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readmission rate by patient group (%)</a:t>
            </a:r>
            <a:endParaRPr lang="en-US" sz="1300" dirty="0"/>
          </a:p>
        </p:txBody>
      </p:sp>
      <p:pic>
        <p:nvPicPr>
          <p:cNvPr id="13" name="Image 0" descr="Paired bar chart of readmission rate for higher-risk versus comparison groups: age 80+ 24.64 vs 18-44 7.82; stay 8+ days 24.39 vs 1-3 days 12.65; lives alone 23.40 vs not 13.77; HbA1c 9+ 22.64 vs under 5.7 14.29; no 7-day follow-up 20.00 vs follow-up 14.14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489928"/>
            <a:ext cx="6350000" cy="3302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67600" y="2208014"/>
            <a:ext cx="4028948" cy="243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diagnoses by readmission rate</a:t>
            </a:r>
            <a:endParaRPr lang="en-US" sz="1231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0300" y="2489332"/>
          <a:ext cx="3898900" cy="3100784"/>
        </p:xfrm>
        <a:graphic>
          <a:graphicData uri="http://schemas.openxmlformats.org/drawingml/2006/table">
            <a:tbl>
              <a:tblPr/>
              <a:tblGrid>
                <a:gridCol w="974725"/>
                <a:gridCol w="974725"/>
                <a:gridCol w="974725"/>
                <a:gridCol w="974725"/>
              </a:tblGrid>
              <a:tr h="352028"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b="1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Diagnosis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b="1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b="1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b="1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564224"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 failure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1,944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D450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22.74%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20.9%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28"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COPD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1,369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D450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19.65%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12.7%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4224"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Kidney disease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1,059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17.47%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8.7%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28"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Sepsis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1,031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17.36%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8.5%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28"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Stroke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879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16.72%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6.9%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4224"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Diabetes compl.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1,849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16.22%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14.2%</a:t>
                      </a:r>
                      <a:endParaRPr lang="en-US" sz="119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7467600" y="5640917"/>
            <a:ext cx="4028948" cy="226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= % of all 2,116 readmissions</a:t>
            </a:r>
            <a:endParaRPr lang="en-US" sz="1159" dirty="0"/>
          </a:p>
        </p:txBody>
      </p:sp>
      <p:sp>
        <p:nvSpPr>
          <p:cNvPr id="17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vw_admission_master, Jan 2024–May 2026 (n = 13,072)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3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Regions, trend and cost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209014"/>
            <a:ext cx="627888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readmission rate by region (%)</a:t>
            </a:r>
            <a:endParaRPr lang="en-US" sz="1300" dirty="0"/>
          </a:p>
        </p:txBody>
      </p:sp>
      <p:pic>
        <p:nvPicPr>
          <p:cNvPr id="4" name="Image 0" descr="Bar chart of readmission rate by region against the overall 16.19 percent: Mid-Atlantic 20.16, Georgia 17.50, Nevada 17.44, Northwest 16.42, Colorado 16.14, Southern California 15.63, Northern California 15.61, Hawaii 14.83, Washington 14.73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490928"/>
            <a:ext cx="6096000" cy="330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13600" y="1209014"/>
            <a:ext cx="42905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readmissions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6300" y="1554428"/>
          <a:ext cx="4152900" cy="1196181"/>
        </p:xfrm>
        <a:graphic>
          <a:graphicData uri="http://schemas.openxmlformats.org/drawingml/2006/table">
            <a:tbl>
              <a:tblPr/>
              <a:tblGrid>
                <a:gridCol w="1038225"/>
                <a:gridCol w="1038225"/>
                <a:gridCol w="1038225"/>
                <a:gridCol w="1038225"/>
              </a:tblGrid>
              <a:tr h="3276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54094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readmitted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10,956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$174.2M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450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Readmitted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$18,451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$39.0M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50800" marB="508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216775" y="2855384"/>
            <a:ext cx="4159250" cy="718344"/>
          </a:xfrm>
          <a:prstGeom prst="roundRect">
            <a:avLst>
              <a:gd name="adj" fmla="val 13702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  <p:txBody>
          <a:bodyPr wrap="square" lIns="124631" tIns="99231" rIns="9060" bIns="7383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+$2,551</a:t>
            </a:r>
            <a:r>
              <a:rPr lang="en-US" sz="13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readmitted stay (+16%). Readmissions are 16.2% of admissions but 18.3% of total cost.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213600" y="3678503"/>
            <a:ext cx="42905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Readmission rate by year (%)</a:t>
            </a:r>
            <a:endParaRPr lang="en-US" sz="1300" dirty="0"/>
          </a:p>
        </p:txBody>
      </p:sp>
      <p:pic>
        <p:nvPicPr>
          <p:cNvPr id="9" name="Image 1" descr="Bar chart of yearly readmission rate: 2024 16.7, 2025 16.1, 2026 January to May 15.1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13600" y="4011216"/>
            <a:ext cx="4165600" cy="1587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vw_admission_master, Jan 2024–May 2026 (n = 13,072). Open item: view holds 13,122 of 15,000 admissions.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admission Analytics – SQL Findings">
  <a:themeElements>
    <a:clrScheme name="Readmission Analytics – SQL Findings">
      <a:dk1>
        <a:srgbClr val="1C2330"/>
      </a:dk1>
      <a:lt1>
        <a:srgbClr val="F6F4EF"/>
      </a:lt1>
      <a:dk2>
        <a:srgbClr val="535760"/>
      </a:dk2>
      <a:lt2>
        <a:srgbClr val="E0DFDC"/>
      </a:lt2>
      <a:accent1>
        <a:srgbClr val="D4501A"/>
      </a:accent1>
      <a:accent2>
        <a:srgbClr val="5B6573"/>
      </a:accent2>
      <a:accent3>
        <a:srgbClr val="9AA0A6"/>
      </a:accent3>
      <a:accent4>
        <a:srgbClr val="73777C"/>
      </a:accent4>
      <a:accent5>
        <a:srgbClr val="949699"/>
      </a:accent5>
      <a:accent6>
        <a:srgbClr val="B5B5B6"/>
      </a:accent6>
      <a:hlink>
        <a:srgbClr val="0563C1"/>
      </a:hlink>
      <a:folHlink>
        <a:srgbClr val="954F72"/>
      </a:folHlink>
    </a:clrScheme>
    <a:fontScheme name="Readmission Analytics – SQL Finding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Readmission Analytics – SQL Findings</dc:title>
  <dc:subject/>
  <dc:creator/>
  <cp:lastModifiedBy/>
  <cp:revision>1</cp:revision>
  <dcterms:created xsi:type="dcterms:W3CDTF">2026-10-26T17:00:47Z</dcterms:created>
  <dcterms:modified xsi:type="dcterms:W3CDTF">2026-10-26T17:00:47Z</dcterms:modified>
</cp:coreProperties>
</file>